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7" r:id="rId3"/>
    <p:sldId id="258" r:id="rId4"/>
    <p:sldId id="259" r:id="rId5"/>
    <p:sldId id="260" r:id="rId6"/>
    <p:sldId id="269" r:id="rId7"/>
    <p:sldId id="268" r:id="rId8"/>
    <p:sldId id="261" r:id="rId9"/>
    <p:sldId id="262" r:id="rId10"/>
    <p:sldId id="263" r:id="rId11"/>
    <p:sldId id="264" r:id="rId12"/>
    <p:sldId id="270"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23CA1A-07B6-493D-8425-8C68630D6E9E}" type="datetimeFigureOut">
              <a:rPr lang="en-IN" smtClean="0"/>
              <a:t>14-11-2025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4BE7F1-044D-4467-8A0D-94FF8686434F}" type="slidenum">
              <a:rPr lang="en-IN" smtClean="0"/>
              <a:t>‹#›</a:t>
            </a:fld>
            <a:endParaRPr lang="en-IN"/>
          </a:p>
        </p:txBody>
      </p:sp>
    </p:spTree>
    <p:extLst>
      <p:ext uri="{BB962C8B-B14F-4D97-AF65-F5344CB8AC3E}">
        <p14:creationId xmlns:p14="http://schemas.microsoft.com/office/powerpoint/2010/main" val="1263372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8A2B9-FAB7-583E-BED5-6D4070A7A3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98588FB-5EA7-2171-2F0E-F0FA58C1FE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05897F-65A2-0680-C5DB-E631CBD3AB62}"/>
              </a:ext>
            </a:extLst>
          </p:cNvPr>
          <p:cNvSpPr>
            <a:spLocks noGrp="1"/>
          </p:cNvSpPr>
          <p:nvPr>
            <p:ph type="dt" sz="half" idx="10"/>
          </p:nvPr>
        </p:nvSpPr>
        <p:spPr/>
        <p:txBody>
          <a:bodyPr/>
          <a:lstStyle/>
          <a:p>
            <a:fld id="{0E5E6F7E-545E-41FC-A11A-1AC8BAC5A92A}" type="datetimeFigureOut">
              <a:rPr lang="en-IN" smtClean="0"/>
              <a:t>14-11-2025</a:t>
            </a:fld>
            <a:endParaRPr lang="en-IN"/>
          </a:p>
        </p:txBody>
      </p:sp>
      <p:sp>
        <p:nvSpPr>
          <p:cNvPr id="5" name="Footer Placeholder 4">
            <a:extLst>
              <a:ext uri="{FF2B5EF4-FFF2-40B4-BE49-F238E27FC236}">
                <a16:creationId xmlns:a16="http://schemas.microsoft.com/office/drawing/2014/main" id="{12538D10-B002-7F6A-D974-C04F2BFB8E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7328E3-BDCB-442A-F664-52554BF5755D}"/>
              </a:ext>
            </a:extLst>
          </p:cNvPr>
          <p:cNvSpPr>
            <a:spLocks noGrp="1"/>
          </p:cNvSpPr>
          <p:nvPr>
            <p:ph type="sldNum" sz="quarter" idx="12"/>
          </p:nvPr>
        </p:nvSpPr>
        <p:spPr/>
        <p:txBody>
          <a:bodyPr/>
          <a:lstStyle/>
          <a:p>
            <a:fld id="{F5C2D73D-3E86-40D8-A6D7-B64084C37973}" type="slidenum">
              <a:rPr lang="en-IN" smtClean="0"/>
              <a:t>‹#›</a:t>
            </a:fld>
            <a:endParaRPr lang="en-IN"/>
          </a:p>
        </p:txBody>
      </p:sp>
    </p:spTree>
    <p:extLst>
      <p:ext uri="{BB962C8B-B14F-4D97-AF65-F5344CB8AC3E}">
        <p14:creationId xmlns:p14="http://schemas.microsoft.com/office/powerpoint/2010/main" val="381489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03994-08FF-B29B-7037-E0F6042896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C72D73-FF46-7988-D46F-26327E63C7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8C4299-33D1-8BA4-E9B8-A2E43B74B774}"/>
              </a:ext>
            </a:extLst>
          </p:cNvPr>
          <p:cNvSpPr>
            <a:spLocks noGrp="1"/>
          </p:cNvSpPr>
          <p:nvPr>
            <p:ph type="dt" sz="half" idx="10"/>
          </p:nvPr>
        </p:nvSpPr>
        <p:spPr/>
        <p:txBody>
          <a:bodyPr/>
          <a:lstStyle/>
          <a:p>
            <a:fld id="{0E5E6F7E-545E-41FC-A11A-1AC8BAC5A92A}" type="datetimeFigureOut">
              <a:rPr lang="en-IN" smtClean="0"/>
              <a:t>14-11-2025</a:t>
            </a:fld>
            <a:endParaRPr lang="en-IN"/>
          </a:p>
        </p:txBody>
      </p:sp>
      <p:sp>
        <p:nvSpPr>
          <p:cNvPr id="5" name="Footer Placeholder 4">
            <a:extLst>
              <a:ext uri="{FF2B5EF4-FFF2-40B4-BE49-F238E27FC236}">
                <a16:creationId xmlns:a16="http://schemas.microsoft.com/office/drawing/2014/main" id="{3F2110BD-1A8F-4241-4B89-E9BBAD6877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1C1DEF-3EB8-0B49-9869-93D57AB90A87}"/>
              </a:ext>
            </a:extLst>
          </p:cNvPr>
          <p:cNvSpPr>
            <a:spLocks noGrp="1"/>
          </p:cNvSpPr>
          <p:nvPr>
            <p:ph type="sldNum" sz="quarter" idx="12"/>
          </p:nvPr>
        </p:nvSpPr>
        <p:spPr/>
        <p:txBody>
          <a:bodyPr/>
          <a:lstStyle/>
          <a:p>
            <a:fld id="{F5C2D73D-3E86-40D8-A6D7-B64084C37973}" type="slidenum">
              <a:rPr lang="en-IN" smtClean="0"/>
              <a:t>‹#›</a:t>
            </a:fld>
            <a:endParaRPr lang="en-IN"/>
          </a:p>
        </p:txBody>
      </p:sp>
    </p:spTree>
    <p:extLst>
      <p:ext uri="{BB962C8B-B14F-4D97-AF65-F5344CB8AC3E}">
        <p14:creationId xmlns:p14="http://schemas.microsoft.com/office/powerpoint/2010/main" val="2601946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6A4B3-F2BB-FB2C-FA80-FAB88E2643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CF160B7-1B3F-DBDC-5383-8BC24BFBF3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570D7F-231B-1C00-A9AB-A5F15E9C757E}"/>
              </a:ext>
            </a:extLst>
          </p:cNvPr>
          <p:cNvSpPr>
            <a:spLocks noGrp="1"/>
          </p:cNvSpPr>
          <p:nvPr>
            <p:ph type="dt" sz="half" idx="10"/>
          </p:nvPr>
        </p:nvSpPr>
        <p:spPr/>
        <p:txBody>
          <a:bodyPr/>
          <a:lstStyle/>
          <a:p>
            <a:fld id="{0E5E6F7E-545E-41FC-A11A-1AC8BAC5A92A}" type="datetimeFigureOut">
              <a:rPr lang="en-IN" smtClean="0"/>
              <a:t>14-11-2025</a:t>
            </a:fld>
            <a:endParaRPr lang="en-IN"/>
          </a:p>
        </p:txBody>
      </p:sp>
      <p:sp>
        <p:nvSpPr>
          <p:cNvPr id="5" name="Footer Placeholder 4">
            <a:extLst>
              <a:ext uri="{FF2B5EF4-FFF2-40B4-BE49-F238E27FC236}">
                <a16:creationId xmlns:a16="http://schemas.microsoft.com/office/drawing/2014/main" id="{69E6C72C-4D82-4AFE-8AB0-EF53BF2671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525525-4D7E-EE17-30D0-A92E3726CB8A}"/>
              </a:ext>
            </a:extLst>
          </p:cNvPr>
          <p:cNvSpPr>
            <a:spLocks noGrp="1"/>
          </p:cNvSpPr>
          <p:nvPr>
            <p:ph type="sldNum" sz="quarter" idx="12"/>
          </p:nvPr>
        </p:nvSpPr>
        <p:spPr/>
        <p:txBody>
          <a:bodyPr/>
          <a:lstStyle/>
          <a:p>
            <a:fld id="{F5C2D73D-3E86-40D8-A6D7-B64084C37973}" type="slidenum">
              <a:rPr lang="en-IN" smtClean="0"/>
              <a:t>‹#›</a:t>
            </a:fld>
            <a:endParaRPr lang="en-IN"/>
          </a:p>
        </p:txBody>
      </p:sp>
    </p:spTree>
    <p:extLst>
      <p:ext uri="{BB962C8B-B14F-4D97-AF65-F5344CB8AC3E}">
        <p14:creationId xmlns:p14="http://schemas.microsoft.com/office/powerpoint/2010/main" val="393237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3917C-CBC6-1F40-CD4E-3A3288CD98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1E85E6-24C6-3D3A-7947-BFCD9861BC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6C642B3-D490-A16B-2FCD-5BFB5F7CB8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8B02AD9-3DA8-DFD0-F5B8-B4DC69420FC6}"/>
              </a:ext>
            </a:extLst>
          </p:cNvPr>
          <p:cNvSpPr>
            <a:spLocks noGrp="1"/>
          </p:cNvSpPr>
          <p:nvPr>
            <p:ph type="dt" sz="half" idx="10"/>
          </p:nvPr>
        </p:nvSpPr>
        <p:spPr/>
        <p:txBody>
          <a:bodyPr/>
          <a:lstStyle/>
          <a:p>
            <a:fld id="{0E5E6F7E-545E-41FC-A11A-1AC8BAC5A92A}" type="datetimeFigureOut">
              <a:rPr lang="en-IN" smtClean="0"/>
              <a:t>14-11-2025</a:t>
            </a:fld>
            <a:endParaRPr lang="en-IN"/>
          </a:p>
        </p:txBody>
      </p:sp>
      <p:sp>
        <p:nvSpPr>
          <p:cNvPr id="6" name="Footer Placeholder 5">
            <a:extLst>
              <a:ext uri="{FF2B5EF4-FFF2-40B4-BE49-F238E27FC236}">
                <a16:creationId xmlns:a16="http://schemas.microsoft.com/office/drawing/2014/main" id="{9A1A55BC-9F9E-4D4B-EFEF-D042DC5B87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2FD357-FE4D-E1C1-9429-AB01407741F4}"/>
              </a:ext>
            </a:extLst>
          </p:cNvPr>
          <p:cNvSpPr>
            <a:spLocks noGrp="1"/>
          </p:cNvSpPr>
          <p:nvPr>
            <p:ph type="sldNum" sz="quarter" idx="12"/>
          </p:nvPr>
        </p:nvSpPr>
        <p:spPr/>
        <p:txBody>
          <a:bodyPr/>
          <a:lstStyle/>
          <a:p>
            <a:fld id="{F5C2D73D-3E86-40D8-A6D7-B64084C37973}" type="slidenum">
              <a:rPr lang="en-IN" smtClean="0"/>
              <a:t>‹#›</a:t>
            </a:fld>
            <a:endParaRPr lang="en-IN"/>
          </a:p>
        </p:txBody>
      </p:sp>
    </p:spTree>
    <p:extLst>
      <p:ext uri="{BB962C8B-B14F-4D97-AF65-F5344CB8AC3E}">
        <p14:creationId xmlns:p14="http://schemas.microsoft.com/office/powerpoint/2010/main" val="520867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550CD-B90C-C073-36EE-A81E87A5A78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FEC40D-0004-2726-5D76-0906109CB2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2DF6D6-D73F-C64A-6632-FF4A3FD0C3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81C7E73-1AEB-20CB-3220-8F5C1EF5E0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00CD6F-AFFD-2311-7380-ABE1303993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37D07FD-46D7-8D8F-F081-E6950B7E4ED9}"/>
              </a:ext>
            </a:extLst>
          </p:cNvPr>
          <p:cNvSpPr>
            <a:spLocks noGrp="1"/>
          </p:cNvSpPr>
          <p:nvPr>
            <p:ph type="dt" sz="half" idx="10"/>
          </p:nvPr>
        </p:nvSpPr>
        <p:spPr/>
        <p:txBody>
          <a:bodyPr/>
          <a:lstStyle/>
          <a:p>
            <a:fld id="{0E5E6F7E-545E-41FC-A11A-1AC8BAC5A92A}" type="datetimeFigureOut">
              <a:rPr lang="en-IN" smtClean="0"/>
              <a:t>14-11-2025</a:t>
            </a:fld>
            <a:endParaRPr lang="en-IN"/>
          </a:p>
        </p:txBody>
      </p:sp>
      <p:sp>
        <p:nvSpPr>
          <p:cNvPr id="8" name="Footer Placeholder 7">
            <a:extLst>
              <a:ext uri="{FF2B5EF4-FFF2-40B4-BE49-F238E27FC236}">
                <a16:creationId xmlns:a16="http://schemas.microsoft.com/office/drawing/2014/main" id="{7142E13F-5D51-55A4-EF27-DF1397A407D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55B8145-BCEC-81EC-FA0F-6D27FFC8B0A5}"/>
              </a:ext>
            </a:extLst>
          </p:cNvPr>
          <p:cNvSpPr>
            <a:spLocks noGrp="1"/>
          </p:cNvSpPr>
          <p:nvPr>
            <p:ph type="sldNum" sz="quarter" idx="12"/>
          </p:nvPr>
        </p:nvSpPr>
        <p:spPr/>
        <p:txBody>
          <a:bodyPr/>
          <a:lstStyle/>
          <a:p>
            <a:fld id="{F5C2D73D-3E86-40D8-A6D7-B64084C37973}" type="slidenum">
              <a:rPr lang="en-IN" smtClean="0"/>
              <a:t>‹#›</a:t>
            </a:fld>
            <a:endParaRPr lang="en-IN"/>
          </a:p>
        </p:txBody>
      </p:sp>
    </p:spTree>
    <p:extLst>
      <p:ext uri="{BB962C8B-B14F-4D97-AF65-F5344CB8AC3E}">
        <p14:creationId xmlns:p14="http://schemas.microsoft.com/office/powerpoint/2010/main" val="11174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07FB5-9E6E-753A-913A-347A4C79A03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E341090-A2CD-3920-BC9C-C45D45D9EC96}"/>
              </a:ext>
            </a:extLst>
          </p:cNvPr>
          <p:cNvSpPr>
            <a:spLocks noGrp="1"/>
          </p:cNvSpPr>
          <p:nvPr>
            <p:ph type="dt" sz="half" idx="10"/>
          </p:nvPr>
        </p:nvSpPr>
        <p:spPr/>
        <p:txBody>
          <a:bodyPr/>
          <a:lstStyle/>
          <a:p>
            <a:fld id="{0E5E6F7E-545E-41FC-A11A-1AC8BAC5A92A}" type="datetimeFigureOut">
              <a:rPr lang="en-IN" smtClean="0"/>
              <a:t>14-11-2025</a:t>
            </a:fld>
            <a:endParaRPr lang="en-IN"/>
          </a:p>
        </p:txBody>
      </p:sp>
      <p:sp>
        <p:nvSpPr>
          <p:cNvPr id="4" name="Footer Placeholder 3">
            <a:extLst>
              <a:ext uri="{FF2B5EF4-FFF2-40B4-BE49-F238E27FC236}">
                <a16:creationId xmlns:a16="http://schemas.microsoft.com/office/drawing/2014/main" id="{E01CEBCF-9CBE-94CC-FBEF-3B16EF4CFB6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DB24C23-25DB-2E56-17D1-F7E34A9635F3}"/>
              </a:ext>
            </a:extLst>
          </p:cNvPr>
          <p:cNvSpPr>
            <a:spLocks noGrp="1"/>
          </p:cNvSpPr>
          <p:nvPr>
            <p:ph type="sldNum" sz="quarter" idx="12"/>
          </p:nvPr>
        </p:nvSpPr>
        <p:spPr/>
        <p:txBody>
          <a:bodyPr/>
          <a:lstStyle/>
          <a:p>
            <a:fld id="{F5C2D73D-3E86-40D8-A6D7-B64084C37973}" type="slidenum">
              <a:rPr lang="en-IN" smtClean="0"/>
              <a:t>‹#›</a:t>
            </a:fld>
            <a:endParaRPr lang="en-IN"/>
          </a:p>
        </p:txBody>
      </p:sp>
    </p:spTree>
    <p:extLst>
      <p:ext uri="{BB962C8B-B14F-4D97-AF65-F5344CB8AC3E}">
        <p14:creationId xmlns:p14="http://schemas.microsoft.com/office/powerpoint/2010/main" val="662533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CCD584-3F2C-8B2E-E485-F654A9366D46}"/>
              </a:ext>
            </a:extLst>
          </p:cNvPr>
          <p:cNvSpPr>
            <a:spLocks noGrp="1"/>
          </p:cNvSpPr>
          <p:nvPr>
            <p:ph type="dt" sz="half" idx="10"/>
          </p:nvPr>
        </p:nvSpPr>
        <p:spPr/>
        <p:txBody>
          <a:bodyPr/>
          <a:lstStyle/>
          <a:p>
            <a:fld id="{0E5E6F7E-545E-41FC-A11A-1AC8BAC5A92A}" type="datetimeFigureOut">
              <a:rPr lang="en-IN" smtClean="0"/>
              <a:t>14-11-2025</a:t>
            </a:fld>
            <a:endParaRPr lang="en-IN"/>
          </a:p>
        </p:txBody>
      </p:sp>
      <p:sp>
        <p:nvSpPr>
          <p:cNvPr id="3" name="Footer Placeholder 2">
            <a:extLst>
              <a:ext uri="{FF2B5EF4-FFF2-40B4-BE49-F238E27FC236}">
                <a16:creationId xmlns:a16="http://schemas.microsoft.com/office/drawing/2014/main" id="{5F32E2A7-FDD5-A7B6-64F5-9CCEBDCF292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C67C70-0684-B502-BB0E-E1D9A2F709AE}"/>
              </a:ext>
            </a:extLst>
          </p:cNvPr>
          <p:cNvSpPr>
            <a:spLocks noGrp="1"/>
          </p:cNvSpPr>
          <p:nvPr>
            <p:ph type="sldNum" sz="quarter" idx="12"/>
          </p:nvPr>
        </p:nvSpPr>
        <p:spPr/>
        <p:txBody>
          <a:bodyPr/>
          <a:lstStyle/>
          <a:p>
            <a:fld id="{F5C2D73D-3E86-40D8-A6D7-B64084C37973}" type="slidenum">
              <a:rPr lang="en-IN" smtClean="0"/>
              <a:t>‹#›</a:t>
            </a:fld>
            <a:endParaRPr lang="en-IN"/>
          </a:p>
        </p:txBody>
      </p:sp>
    </p:spTree>
    <p:extLst>
      <p:ext uri="{BB962C8B-B14F-4D97-AF65-F5344CB8AC3E}">
        <p14:creationId xmlns:p14="http://schemas.microsoft.com/office/powerpoint/2010/main" val="185216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E98DC-6C1D-5531-527D-88FAF03ADF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9676DB-DE13-5412-DAC0-8DDE428EE9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74EFF99-384A-5029-5C28-4E21A03473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96175C-4B2E-6AAF-3663-849697E92925}"/>
              </a:ext>
            </a:extLst>
          </p:cNvPr>
          <p:cNvSpPr>
            <a:spLocks noGrp="1"/>
          </p:cNvSpPr>
          <p:nvPr>
            <p:ph type="dt" sz="half" idx="10"/>
          </p:nvPr>
        </p:nvSpPr>
        <p:spPr/>
        <p:txBody>
          <a:bodyPr/>
          <a:lstStyle/>
          <a:p>
            <a:fld id="{0E5E6F7E-545E-41FC-A11A-1AC8BAC5A92A}" type="datetimeFigureOut">
              <a:rPr lang="en-IN" smtClean="0"/>
              <a:t>14-11-2025</a:t>
            </a:fld>
            <a:endParaRPr lang="en-IN"/>
          </a:p>
        </p:txBody>
      </p:sp>
      <p:sp>
        <p:nvSpPr>
          <p:cNvPr id="6" name="Footer Placeholder 5">
            <a:extLst>
              <a:ext uri="{FF2B5EF4-FFF2-40B4-BE49-F238E27FC236}">
                <a16:creationId xmlns:a16="http://schemas.microsoft.com/office/drawing/2014/main" id="{0053EEE4-1472-DE19-F246-B3DFE68450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835493-CFB9-A05A-8405-FEE4FAA3AC30}"/>
              </a:ext>
            </a:extLst>
          </p:cNvPr>
          <p:cNvSpPr>
            <a:spLocks noGrp="1"/>
          </p:cNvSpPr>
          <p:nvPr>
            <p:ph type="sldNum" sz="quarter" idx="12"/>
          </p:nvPr>
        </p:nvSpPr>
        <p:spPr/>
        <p:txBody>
          <a:bodyPr/>
          <a:lstStyle/>
          <a:p>
            <a:fld id="{F5C2D73D-3E86-40D8-A6D7-B64084C37973}" type="slidenum">
              <a:rPr lang="en-IN" smtClean="0"/>
              <a:t>‹#›</a:t>
            </a:fld>
            <a:endParaRPr lang="en-IN"/>
          </a:p>
        </p:txBody>
      </p:sp>
    </p:spTree>
    <p:extLst>
      <p:ext uri="{BB962C8B-B14F-4D97-AF65-F5344CB8AC3E}">
        <p14:creationId xmlns:p14="http://schemas.microsoft.com/office/powerpoint/2010/main" val="2476486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6B841-0556-FB46-0D1B-69B0EAA1B6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0CA450F-A0F3-DC35-62E6-6B323AB881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C14AD2A-70E0-9867-1202-5A92BB7DA2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F57275-6469-2938-C172-04992ADC1132}"/>
              </a:ext>
            </a:extLst>
          </p:cNvPr>
          <p:cNvSpPr>
            <a:spLocks noGrp="1"/>
          </p:cNvSpPr>
          <p:nvPr>
            <p:ph type="dt" sz="half" idx="10"/>
          </p:nvPr>
        </p:nvSpPr>
        <p:spPr/>
        <p:txBody>
          <a:bodyPr/>
          <a:lstStyle/>
          <a:p>
            <a:fld id="{0E5E6F7E-545E-41FC-A11A-1AC8BAC5A92A}" type="datetimeFigureOut">
              <a:rPr lang="en-IN" smtClean="0"/>
              <a:t>14-11-2025</a:t>
            </a:fld>
            <a:endParaRPr lang="en-IN"/>
          </a:p>
        </p:txBody>
      </p:sp>
      <p:sp>
        <p:nvSpPr>
          <p:cNvPr id="6" name="Footer Placeholder 5">
            <a:extLst>
              <a:ext uri="{FF2B5EF4-FFF2-40B4-BE49-F238E27FC236}">
                <a16:creationId xmlns:a16="http://schemas.microsoft.com/office/drawing/2014/main" id="{A2066A3A-8249-6B78-1D97-DC612D5A1F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53D7B1-FCBC-7FA0-8A20-5533078CC292}"/>
              </a:ext>
            </a:extLst>
          </p:cNvPr>
          <p:cNvSpPr>
            <a:spLocks noGrp="1"/>
          </p:cNvSpPr>
          <p:nvPr>
            <p:ph type="sldNum" sz="quarter" idx="12"/>
          </p:nvPr>
        </p:nvSpPr>
        <p:spPr/>
        <p:txBody>
          <a:bodyPr/>
          <a:lstStyle/>
          <a:p>
            <a:fld id="{F5C2D73D-3E86-40D8-A6D7-B64084C37973}" type="slidenum">
              <a:rPr lang="en-IN" smtClean="0"/>
              <a:t>‹#›</a:t>
            </a:fld>
            <a:endParaRPr lang="en-IN"/>
          </a:p>
        </p:txBody>
      </p:sp>
    </p:spTree>
    <p:extLst>
      <p:ext uri="{BB962C8B-B14F-4D97-AF65-F5344CB8AC3E}">
        <p14:creationId xmlns:p14="http://schemas.microsoft.com/office/powerpoint/2010/main" val="3302648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8BDE5-BE0F-6C18-25F6-EBA1F305C17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0AEB84-F264-4A22-4D85-E56BE6B8A9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190C41-7921-C7D2-8E0D-671FFB5AE783}"/>
              </a:ext>
            </a:extLst>
          </p:cNvPr>
          <p:cNvSpPr>
            <a:spLocks noGrp="1"/>
          </p:cNvSpPr>
          <p:nvPr>
            <p:ph type="dt" sz="half" idx="10"/>
          </p:nvPr>
        </p:nvSpPr>
        <p:spPr/>
        <p:txBody>
          <a:bodyPr/>
          <a:lstStyle/>
          <a:p>
            <a:fld id="{0E5E6F7E-545E-41FC-A11A-1AC8BAC5A92A}" type="datetimeFigureOut">
              <a:rPr lang="en-IN" smtClean="0"/>
              <a:t>14-11-2025</a:t>
            </a:fld>
            <a:endParaRPr lang="en-IN"/>
          </a:p>
        </p:txBody>
      </p:sp>
      <p:sp>
        <p:nvSpPr>
          <p:cNvPr id="5" name="Footer Placeholder 4">
            <a:extLst>
              <a:ext uri="{FF2B5EF4-FFF2-40B4-BE49-F238E27FC236}">
                <a16:creationId xmlns:a16="http://schemas.microsoft.com/office/drawing/2014/main" id="{6F0CBBE1-7874-0E95-5907-40E0E6C831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4FAD69-D4BA-442A-1786-CC232C9B038D}"/>
              </a:ext>
            </a:extLst>
          </p:cNvPr>
          <p:cNvSpPr>
            <a:spLocks noGrp="1"/>
          </p:cNvSpPr>
          <p:nvPr>
            <p:ph type="sldNum" sz="quarter" idx="12"/>
          </p:nvPr>
        </p:nvSpPr>
        <p:spPr/>
        <p:txBody>
          <a:bodyPr/>
          <a:lstStyle/>
          <a:p>
            <a:fld id="{F5C2D73D-3E86-40D8-A6D7-B64084C37973}" type="slidenum">
              <a:rPr lang="en-IN" smtClean="0"/>
              <a:t>‹#›</a:t>
            </a:fld>
            <a:endParaRPr lang="en-IN"/>
          </a:p>
        </p:txBody>
      </p:sp>
    </p:spTree>
    <p:extLst>
      <p:ext uri="{BB962C8B-B14F-4D97-AF65-F5344CB8AC3E}">
        <p14:creationId xmlns:p14="http://schemas.microsoft.com/office/powerpoint/2010/main" val="638009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2BFCE3-1581-B21A-98B7-9147E230CC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CAA3DD-9316-BA9C-6CD0-561E92EADD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14F99E-5DAB-51CF-3549-EE78BC0DD1C7}"/>
              </a:ext>
            </a:extLst>
          </p:cNvPr>
          <p:cNvSpPr>
            <a:spLocks noGrp="1"/>
          </p:cNvSpPr>
          <p:nvPr>
            <p:ph type="dt" sz="half" idx="10"/>
          </p:nvPr>
        </p:nvSpPr>
        <p:spPr/>
        <p:txBody>
          <a:bodyPr/>
          <a:lstStyle/>
          <a:p>
            <a:fld id="{0E5E6F7E-545E-41FC-A11A-1AC8BAC5A92A}" type="datetimeFigureOut">
              <a:rPr lang="en-IN" smtClean="0"/>
              <a:t>14-11-2025</a:t>
            </a:fld>
            <a:endParaRPr lang="en-IN"/>
          </a:p>
        </p:txBody>
      </p:sp>
      <p:sp>
        <p:nvSpPr>
          <p:cNvPr id="5" name="Footer Placeholder 4">
            <a:extLst>
              <a:ext uri="{FF2B5EF4-FFF2-40B4-BE49-F238E27FC236}">
                <a16:creationId xmlns:a16="http://schemas.microsoft.com/office/drawing/2014/main" id="{2A945754-EFE9-1461-4059-529665570C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EEBF08-18C7-96AE-12B2-457FED7D6550}"/>
              </a:ext>
            </a:extLst>
          </p:cNvPr>
          <p:cNvSpPr>
            <a:spLocks noGrp="1"/>
          </p:cNvSpPr>
          <p:nvPr>
            <p:ph type="sldNum" sz="quarter" idx="12"/>
          </p:nvPr>
        </p:nvSpPr>
        <p:spPr/>
        <p:txBody>
          <a:bodyPr/>
          <a:lstStyle/>
          <a:p>
            <a:fld id="{F5C2D73D-3E86-40D8-A6D7-B64084C37973}" type="slidenum">
              <a:rPr lang="en-IN" smtClean="0"/>
              <a:t>‹#›</a:t>
            </a:fld>
            <a:endParaRPr lang="en-IN"/>
          </a:p>
        </p:txBody>
      </p:sp>
    </p:spTree>
    <p:extLst>
      <p:ext uri="{BB962C8B-B14F-4D97-AF65-F5344CB8AC3E}">
        <p14:creationId xmlns:p14="http://schemas.microsoft.com/office/powerpoint/2010/main" val="785547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07795A-BBF4-8223-369D-BD134D0C89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7471F1-46F8-3744-3A9D-96BB75F86C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45A50A-D1F3-A83F-2AFA-D81D1149CE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5E6F7E-545E-41FC-A11A-1AC8BAC5A92A}" type="datetimeFigureOut">
              <a:rPr lang="en-IN" smtClean="0"/>
              <a:t>14-11-2025</a:t>
            </a:fld>
            <a:endParaRPr lang="en-IN"/>
          </a:p>
        </p:txBody>
      </p:sp>
      <p:sp>
        <p:nvSpPr>
          <p:cNvPr id="5" name="Footer Placeholder 4">
            <a:extLst>
              <a:ext uri="{FF2B5EF4-FFF2-40B4-BE49-F238E27FC236}">
                <a16:creationId xmlns:a16="http://schemas.microsoft.com/office/drawing/2014/main" id="{FB0269B4-7C9A-9897-2F0D-6A8956457C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264BA43-7BA1-A629-1918-C559E172E5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C2D73D-3E86-40D8-A6D7-B64084C37973}" type="slidenum">
              <a:rPr lang="en-IN" smtClean="0"/>
              <a:t>‹#›</a:t>
            </a:fld>
            <a:endParaRPr lang="en-IN"/>
          </a:p>
        </p:txBody>
      </p:sp>
    </p:spTree>
    <p:extLst>
      <p:ext uri="{BB962C8B-B14F-4D97-AF65-F5344CB8AC3E}">
        <p14:creationId xmlns:p14="http://schemas.microsoft.com/office/powerpoint/2010/main" val="29551990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geeksforgeeks.org/page-replacement-algorithms-in-operating-system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1CF9B-BCCE-8E7E-1D51-E612ED9B7125}"/>
              </a:ext>
            </a:extLst>
          </p:cNvPr>
          <p:cNvSpPr>
            <a:spLocks noGrp="1"/>
          </p:cNvSpPr>
          <p:nvPr>
            <p:ph type="ctrTitle"/>
          </p:nvPr>
        </p:nvSpPr>
        <p:spPr>
          <a:xfrm>
            <a:off x="1524000" y="2250039"/>
            <a:ext cx="9144000" cy="1756882"/>
          </a:xfrm>
        </p:spPr>
        <p:txBody>
          <a:bodyPr>
            <a:normAutofit/>
          </a:bodyPr>
          <a:lstStyle/>
          <a:p>
            <a:r>
              <a:rPr lang="en-IN" sz="5400" b="1"/>
              <a:t>CACHE REPLACEMENT </a:t>
            </a:r>
            <a:r>
              <a:rPr lang="en-IN" sz="5400" b="1" dirty="0"/>
              <a:t>POLICY SIMULATOR(LRU,FIFO,OPTIMAL)</a:t>
            </a:r>
          </a:p>
        </p:txBody>
      </p:sp>
      <p:sp>
        <p:nvSpPr>
          <p:cNvPr id="3" name="Subtitle 2">
            <a:extLst>
              <a:ext uri="{FF2B5EF4-FFF2-40B4-BE49-F238E27FC236}">
                <a16:creationId xmlns:a16="http://schemas.microsoft.com/office/drawing/2014/main" id="{EDBDE6C9-C443-08AB-658F-A5ECCDBD6F87}"/>
              </a:ext>
            </a:extLst>
          </p:cNvPr>
          <p:cNvSpPr>
            <a:spLocks noGrp="1"/>
          </p:cNvSpPr>
          <p:nvPr>
            <p:ph type="subTitle" idx="1"/>
          </p:nvPr>
        </p:nvSpPr>
        <p:spPr>
          <a:xfrm>
            <a:off x="1524000" y="4280328"/>
            <a:ext cx="9144000" cy="2387600"/>
          </a:xfrm>
        </p:spPr>
        <p:txBody>
          <a:bodyPr>
            <a:normAutofit/>
          </a:bodyPr>
          <a:lstStyle/>
          <a:p>
            <a:pPr algn="l"/>
            <a:r>
              <a:rPr lang="en-IN" b="1">
                <a:latin typeface="Blackadder ITC" panose="04020505051007020D02" pitchFamily="82" charset="0"/>
              </a:rPr>
              <a:t>Guided </a:t>
            </a:r>
            <a:r>
              <a:rPr lang="en-IN" b="1" dirty="0">
                <a:latin typeface="Blackadder ITC" panose="04020505051007020D02" pitchFamily="82" charset="0"/>
              </a:rPr>
              <a:t>by                                                                                Presented by</a:t>
            </a:r>
          </a:p>
          <a:p>
            <a:pPr algn="l"/>
            <a:r>
              <a:rPr lang="en-IN" dirty="0"/>
              <a:t> </a:t>
            </a:r>
            <a:r>
              <a:rPr lang="en-IN" dirty="0" err="1">
                <a:solidFill>
                  <a:schemeClr val="tx1">
                    <a:lumMod val="95000"/>
                    <a:lumOff val="5000"/>
                  </a:schemeClr>
                </a:solidFill>
              </a:rPr>
              <a:t>Dr.Kumaragurubaran</a:t>
            </a:r>
            <a:r>
              <a:rPr lang="en-IN" dirty="0">
                <a:solidFill>
                  <a:schemeClr val="tx1">
                    <a:lumMod val="95000"/>
                    <a:lumOff val="5000"/>
                  </a:schemeClr>
                </a:solidFill>
              </a:rPr>
              <a:t>                                    </a:t>
            </a:r>
            <a:r>
              <a:rPr lang="en-IN" dirty="0"/>
              <a:t>A Janvi Chowdary (192525455)</a:t>
            </a:r>
          </a:p>
          <a:p>
            <a:pPr algn="l"/>
            <a:r>
              <a:rPr lang="en-IN" dirty="0">
                <a:solidFill>
                  <a:schemeClr val="tx1">
                    <a:lumMod val="95000"/>
                    <a:lumOff val="5000"/>
                  </a:schemeClr>
                </a:solidFill>
              </a:rPr>
              <a:t> </a:t>
            </a:r>
            <a:r>
              <a:rPr lang="en-IN" dirty="0" err="1">
                <a:solidFill>
                  <a:schemeClr val="tx1">
                    <a:lumMod val="95000"/>
                    <a:lumOff val="5000"/>
                  </a:schemeClr>
                </a:solidFill>
              </a:rPr>
              <a:t>Dr.S.Senthilvadivu</a:t>
            </a:r>
            <a:r>
              <a:rPr lang="en-IN" dirty="0">
                <a:solidFill>
                  <a:schemeClr val="tx1">
                    <a:lumMod val="95000"/>
                    <a:lumOff val="5000"/>
                  </a:schemeClr>
                </a:solidFill>
                <a:latin typeface="Blackadder ITC" panose="04020505051007020D02" pitchFamily="82" charset="0"/>
              </a:rPr>
              <a:t>                                                             </a:t>
            </a:r>
            <a:r>
              <a:rPr lang="en-IN" dirty="0"/>
              <a:t>G Vyshnavi (192525260)</a:t>
            </a:r>
          </a:p>
          <a:p>
            <a:endParaRPr lang="en-IN" dirty="0"/>
          </a:p>
        </p:txBody>
      </p:sp>
      <p:pic>
        <p:nvPicPr>
          <p:cNvPr id="1028" name="Picture 4" descr="SIMATS ENGINEERING —BIOTECHNOLOGY">
            <a:extLst>
              <a:ext uri="{FF2B5EF4-FFF2-40B4-BE49-F238E27FC236}">
                <a16:creationId xmlns:a16="http://schemas.microsoft.com/office/drawing/2014/main" id="{ABD1A2FF-8A46-D457-5992-3CBB654FC2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17332"/>
            <a:ext cx="12099533" cy="1568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7976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6626A-C1A0-92A2-F17B-D5322F577812}"/>
              </a:ext>
            </a:extLst>
          </p:cNvPr>
          <p:cNvSpPr>
            <a:spLocks noGrp="1"/>
          </p:cNvSpPr>
          <p:nvPr>
            <p:ph type="title"/>
          </p:nvPr>
        </p:nvSpPr>
        <p:spPr>
          <a:xfrm>
            <a:off x="982038" y="282931"/>
            <a:ext cx="10515600" cy="1325563"/>
          </a:xfrm>
        </p:spPr>
        <p:txBody>
          <a:bodyPr>
            <a:normAutofit/>
          </a:bodyPr>
          <a:lstStyle/>
          <a:p>
            <a:r>
              <a:rPr lang="en-IN" sz="6000" b="1" dirty="0"/>
              <a:t>Introduction</a:t>
            </a:r>
          </a:p>
        </p:txBody>
      </p:sp>
      <p:sp>
        <p:nvSpPr>
          <p:cNvPr id="4" name="Rectangle 1">
            <a:extLst>
              <a:ext uri="{FF2B5EF4-FFF2-40B4-BE49-F238E27FC236}">
                <a16:creationId xmlns:a16="http://schemas.microsoft.com/office/drawing/2014/main" id="{D33490AF-74D4-D8A0-3528-C9C0C5E19EC9}"/>
              </a:ext>
            </a:extLst>
          </p:cNvPr>
          <p:cNvSpPr>
            <a:spLocks noGrp="1" noChangeArrowheads="1"/>
          </p:cNvSpPr>
          <p:nvPr>
            <p:ph idx="1"/>
          </p:nvPr>
        </p:nvSpPr>
        <p:spPr bwMode="auto">
          <a:xfrm>
            <a:off x="838200" y="1892847"/>
            <a:ext cx="8870879"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Cache memory stores data temporarily for faster access.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the cache is full, old data must be replaced.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Cache replacement policy decides which data to remove.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simulator shows how three policies work:</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FIFO:</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Replaces the oldest data.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LRU:</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Replaces the least recently used data.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Optimal: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Replaces the data not needed for the longest time.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helps to understand cache performance and efficiency</a:t>
            </a:r>
          </a:p>
        </p:txBody>
      </p:sp>
    </p:spTree>
    <p:extLst>
      <p:ext uri="{BB962C8B-B14F-4D97-AF65-F5344CB8AC3E}">
        <p14:creationId xmlns:p14="http://schemas.microsoft.com/office/powerpoint/2010/main" val="1488995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108E2-FA75-401C-E50E-911C6265DAFB}"/>
              </a:ext>
            </a:extLst>
          </p:cNvPr>
          <p:cNvSpPr>
            <a:spLocks noGrp="1"/>
          </p:cNvSpPr>
          <p:nvPr>
            <p:ph type="title"/>
          </p:nvPr>
        </p:nvSpPr>
        <p:spPr/>
        <p:txBody>
          <a:bodyPr>
            <a:normAutofit/>
          </a:bodyPr>
          <a:lstStyle/>
          <a:p>
            <a:r>
              <a:rPr lang="en-IN" sz="6000" b="1" dirty="0"/>
              <a:t>Objectives</a:t>
            </a:r>
          </a:p>
        </p:txBody>
      </p:sp>
      <p:sp>
        <p:nvSpPr>
          <p:cNvPr id="4" name="Rectangle 1">
            <a:extLst>
              <a:ext uri="{FF2B5EF4-FFF2-40B4-BE49-F238E27FC236}">
                <a16:creationId xmlns:a16="http://schemas.microsoft.com/office/drawing/2014/main" id="{CAE96944-BBD5-1FD1-DE91-E9843837B0E6}"/>
              </a:ext>
            </a:extLst>
          </p:cNvPr>
          <p:cNvSpPr>
            <a:spLocks noGrp="1" noChangeArrowheads="1"/>
          </p:cNvSpPr>
          <p:nvPr>
            <p:ph idx="1"/>
          </p:nvPr>
        </p:nvSpPr>
        <p:spPr bwMode="auto">
          <a:xfrm>
            <a:off x="838200" y="1775298"/>
            <a:ext cx="10042133"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To simulate</a:t>
            </a:r>
            <a:r>
              <a:rPr kumimoji="0" lang="en-US" altLang="en-US" sz="2400" b="0" i="0" u="none" strike="noStrike" cap="none" normalizeH="0" baseline="0" dirty="0">
                <a:ln>
                  <a:noFill/>
                </a:ln>
                <a:solidFill>
                  <a:schemeClr val="tx1"/>
                </a:solidFill>
                <a:effectLst/>
                <a:latin typeface="Arial" panose="020B0604020202020204" pitchFamily="34" charset="0"/>
              </a:rPr>
              <a:t> different cache replacement policies such as FIFO, LRU, LFU, and Random.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To understand</a:t>
            </a:r>
            <a:r>
              <a:rPr kumimoji="0" lang="en-US" altLang="en-US" sz="2400" b="0" i="0" u="none" strike="noStrike" cap="none" normalizeH="0" baseline="0" dirty="0">
                <a:ln>
                  <a:noFill/>
                </a:ln>
                <a:solidFill>
                  <a:schemeClr val="tx1"/>
                </a:solidFill>
                <a:effectLst/>
                <a:latin typeface="Arial" panose="020B0604020202020204" pitchFamily="34" charset="0"/>
              </a:rPr>
              <a:t> how cache memory manages data when the cache is full.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To calculate</a:t>
            </a:r>
            <a:r>
              <a:rPr kumimoji="0" lang="en-US" altLang="en-US" sz="2400" b="0" i="0" u="none" strike="noStrike" cap="none" normalizeH="0" baseline="0" dirty="0">
                <a:ln>
                  <a:noFill/>
                </a:ln>
                <a:solidFill>
                  <a:schemeClr val="tx1"/>
                </a:solidFill>
                <a:effectLst/>
                <a:latin typeface="Arial" panose="020B0604020202020204" pitchFamily="34" charset="0"/>
              </a:rPr>
              <a:t> the performance of each policy using hit ratio and miss ratio.</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To analyze</a:t>
            </a:r>
            <a:r>
              <a:rPr kumimoji="0" lang="en-US" altLang="en-US" sz="2400" b="0" i="0" u="none" strike="noStrike" cap="none" normalizeH="0" baseline="0" dirty="0">
                <a:ln>
                  <a:noFill/>
                </a:ln>
                <a:solidFill>
                  <a:schemeClr val="tx1"/>
                </a:solidFill>
                <a:effectLst/>
                <a:latin typeface="Arial" panose="020B0604020202020204" pitchFamily="34" charset="0"/>
              </a:rPr>
              <a:t> which replacement policy performs better for a given memory access pattern.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23157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E1825-DE32-4A5D-1D59-A420A72F9FD7}"/>
              </a:ext>
            </a:extLst>
          </p:cNvPr>
          <p:cNvSpPr>
            <a:spLocks noGrp="1"/>
          </p:cNvSpPr>
          <p:nvPr>
            <p:ph type="title"/>
          </p:nvPr>
        </p:nvSpPr>
        <p:spPr/>
        <p:txBody>
          <a:bodyPr>
            <a:noAutofit/>
          </a:bodyPr>
          <a:lstStyle/>
          <a:p>
            <a:r>
              <a:rPr lang="en-IN" sz="5400" b="1" dirty="0"/>
              <a:t>Types of Cache replacement policies</a:t>
            </a:r>
          </a:p>
        </p:txBody>
      </p:sp>
      <p:sp>
        <p:nvSpPr>
          <p:cNvPr id="4" name="Rectangle 1">
            <a:extLst>
              <a:ext uri="{FF2B5EF4-FFF2-40B4-BE49-F238E27FC236}">
                <a16:creationId xmlns:a16="http://schemas.microsoft.com/office/drawing/2014/main" id="{74DB9D7B-499E-1C72-AA50-9751950D4906}"/>
              </a:ext>
            </a:extLst>
          </p:cNvPr>
          <p:cNvSpPr>
            <a:spLocks noGrp="1" noChangeArrowheads="1"/>
          </p:cNvSpPr>
          <p:nvPr>
            <p:ph idx="1"/>
          </p:nvPr>
        </p:nvSpPr>
        <p:spPr bwMode="auto">
          <a:xfrm>
            <a:off x="1012861" y="1690688"/>
            <a:ext cx="694933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FIFO (First In, First Out)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Replaces the oldest block in cache.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LRU (Least Recently Used)</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Replaces the block not used for the longest time.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LFU (Least Frequently Used)</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Replaces the block with the fewest accesses.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Random Replacement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Replaces any block randomly.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2906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AEF38-7752-2792-D33E-5062576A96AD}"/>
              </a:ext>
            </a:extLst>
          </p:cNvPr>
          <p:cNvSpPr>
            <a:spLocks noGrp="1"/>
          </p:cNvSpPr>
          <p:nvPr>
            <p:ph type="title"/>
          </p:nvPr>
        </p:nvSpPr>
        <p:spPr/>
        <p:txBody>
          <a:bodyPr>
            <a:normAutofit/>
          </a:bodyPr>
          <a:lstStyle/>
          <a:p>
            <a:r>
              <a:rPr lang="en-IN" sz="6000" b="1" dirty="0"/>
              <a:t>Block Diagram</a:t>
            </a:r>
          </a:p>
        </p:txBody>
      </p:sp>
      <p:pic>
        <p:nvPicPr>
          <p:cNvPr id="7" name="Content Placeholder 6">
            <a:extLst>
              <a:ext uri="{FF2B5EF4-FFF2-40B4-BE49-F238E27FC236}">
                <a16:creationId xmlns:a16="http://schemas.microsoft.com/office/drawing/2014/main" id="{76AEEE66-773D-A181-7470-4473068656ED}"/>
              </a:ext>
            </a:extLst>
          </p:cNvPr>
          <p:cNvPicPr>
            <a:picLocks noGrp="1" noChangeAspect="1"/>
          </p:cNvPicPr>
          <p:nvPr>
            <p:ph idx="1"/>
          </p:nvPr>
        </p:nvPicPr>
        <p:blipFill>
          <a:blip r:embed="rId2"/>
          <a:stretch>
            <a:fillRect/>
          </a:stretch>
        </p:blipFill>
        <p:spPr>
          <a:xfrm>
            <a:off x="2832496" y="1825625"/>
            <a:ext cx="6527007" cy="4351338"/>
          </a:xfrm>
          <a:prstGeom prst="rect">
            <a:avLst/>
          </a:prstGeom>
        </p:spPr>
      </p:pic>
    </p:spTree>
    <p:extLst>
      <p:ext uri="{BB962C8B-B14F-4D97-AF65-F5344CB8AC3E}">
        <p14:creationId xmlns:p14="http://schemas.microsoft.com/office/powerpoint/2010/main" val="2227355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9FC5F-38DF-0969-C5EA-ECCDC3BC12C0}"/>
              </a:ext>
            </a:extLst>
          </p:cNvPr>
          <p:cNvSpPr>
            <a:spLocks noGrp="1"/>
          </p:cNvSpPr>
          <p:nvPr>
            <p:ph type="title"/>
          </p:nvPr>
        </p:nvSpPr>
        <p:spPr/>
        <p:txBody>
          <a:bodyPr/>
          <a:lstStyle/>
          <a:p>
            <a:r>
              <a:rPr lang="en-IN" b="1" dirty="0"/>
              <a:t>Problem statement</a:t>
            </a:r>
          </a:p>
        </p:txBody>
      </p:sp>
      <p:sp>
        <p:nvSpPr>
          <p:cNvPr id="3" name="Content Placeholder 2">
            <a:extLst>
              <a:ext uri="{FF2B5EF4-FFF2-40B4-BE49-F238E27FC236}">
                <a16:creationId xmlns:a16="http://schemas.microsoft.com/office/drawing/2014/main" id="{E3D4CAA8-4269-856C-D255-2AC996C09F3C}"/>
              </a:ext>
            </a:extLst>
          </p:cNvPr>
          <p:cNvSpPr>
            <a:spLocks noGrp="1"/>
          </p:cNvSpPr>
          <p:nvPr>
            <p:ph idx="1"/>
          </p:nvPr>
        </p:nvSpPr>
        <p:spPr/>
        <p:txBody>
          <a:bodyPr/>
          <a:lstStyle/>
          <a:p>
            <a:r>
              <a:rPr lang="en-US" dirty="0"/>
              <a:t>When a computer’s cache memory becomes full, the system must decide which data block to remove to make space for new data. Choosing the right block to replace is important to improve the system’s speed and reduce cache misses</a:t>
            </a:r>
          </a:p>
          <a:p>
            <a:r>
              <a:rPr lang="en-US" dirty="0"/>
              <a:t>This project aims to </a:t>
            </a:r>
            <a:r>
              <a:rPr lang="en-US" b="1" dirty="0"/>
              <a:t>develop a Cache Replacement Policy Simulator</a:t>
            </a:r>
            <a:r>
              <a:rPr lang="en-US" dirty="0"/>
              <a:t> that demonstrates and compares the working of </a:t>
            </a:r>
            <a:r>
              <a:rPr lang="en-US" b="1" dirty="0"/>
              <a:t>FIFO (First-In First-Out)</a:t>
            </a:r>
            <a:r>
              <a:rPr lang="en-US" dirty="0"/>
              <a:t>, </a:t>
            </a:r>
            <a:r>
              <a:rPr lang="en-US" b="1" dirty="0"/>
              <a:t>LRU (Least Recently Used)</a:t>
            </a:r>
            <a:r>
              <a:rPr lang="en-US" dirty="0"/>
              <a:t>, and </a:t>
            </a:r>
            <a:r>
              <a:rPr lang="en-US" b="1" dirty="0"/>
              <a:t>Optimal</a:t>
            </a:r>
            <a:r>
              <a:rPr lang="en-US" dirty="0"/>
              <a:t> replacement policies. The simulator helps to analyze their performance based on </a:t>
            </a:r>
            <a:r>
              <a:rPr lang="en-US" b="1" dirty="0"/>
              <a:t>hit rate</a:t>
            </a:r>
            <a:r>
              <a:rPr lang="en-US" dirty="0"/>
              <a:t> and </a:t>
            </a:r>
            <a:r>
              <a:rPr lang="en-US" b="1" dirty="0"/>
              <a:t>miss rate</a:t>
            </a:r>
            <a:r>
              <a:rPr lang="en-US" dirty="0"/>
              <a:t> for different input sequences and cache sizes.</a:t>
            </a:r>
          </a:p>
          <a:p>
            <a:endParaRPr lang="en-IN" dirty="0"/>
          </a:p>
        </p:txBody>
      </p:sp>
    </p:spTree>
    <p:extLst>
      <p:ext uri="{BB962C8B-B14F-4D97-AF65-F5344CB8AC3E}">
        <p14:creationId xmlns:p14="http://schemas.microsoft.com/office/powerpoint/2010/main" val="1744470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88600-5466-26D6-F891-B6FB72CDEEA9}"/>
              </a:ext>
            </a:extLst>
          </p:cNvPr>
          <p:cNvSpPr>
            <a:spLocks noGrp="1"/>
          </p:cNvSpPr>
          <p:nvPr>
            <p:ph type="title"/>
          </p:nvPr>
        </p:nvSpPr>
        <p:spPr/>
        <p:txBody>
          <a:bodyPr/>
          <a:lstStyle/>
          <a:p>
            <a:r>
              <a:rPr lang="en-IN" b="1" dirty="0"/>
              <a:t>Methodology</a:t>
            </a:r>
          </a:p>
        </p:txBody>
      </p:sp>
      <p:sp>
        <p:nvSpPr>
          <p:cNvPr id="3" name="Content Placeholder 2">
            <a:extLst>
              <a:ext uri="{FF2B5EF4-FFF2-40B4-BE49-F238E27FC236}">
                <a16:creationId xmlns:a16="http://schemas.microsoft.com/office/drawing/2014/main" id="{0521D1C5-2CDB-157A-02A1-EB3255AE3DAF}"/>
              </a:ext>
            </a:extLst>
          </p:cNvPr>
          <p:cNvSpPr>
            <a:spLocks noGrp="1"/>
          </p:cNvSpPr>
          <p:nvPr>
            <p:ph idx="1"/>
          </p:nvPr>
        </p:nvSpPr>
        <p:spPr/>
        <p:txBody>
          <a:bodyPr>
            <a:normAutofit fontScale="92500" lnSpcReduction="20000"/>
          </a:bodyPr>
          <a:lstStyle/>
          <a:p>
            <a:r>
              <a:rPr lang="en-US" b="1" dirty="0"/>
              <a:t>Input Phase</a:t>
            </a:r>
            <a:endParaRPr lang="en-US" dirty="0"/>
          </a:p>
          <a:p>
            <a:pPr lvl="1"/>
            <a:r>
              <a:rPr lang="en-US" dirty="0"/>
              <a:t>Enter the </a:t>
            </a:r>
            <a:r>
              <a:rPr lang="en-US" b="1" dirty="0"/>
              <a:t>reference string</a:t>
            </a:r>
            <a:r>
              <a:rPr lang="en-US" dirty="0"/>
              <a:t> and </a:t>
            </a:r>
            <a:r>
              <a:rPr lang="en-US" b="1" dirty="0"/>
              <a:t>number of cache frames</a:t>
            </a:r>
            <a:r>
              <a:rPr lang="en-US" dirty="0"/>
              <a:t>.</a:t>
            </a:r>
          </a:p>
          <a:p>
            <a:r>
              <a:rPr lang="en-US" b="1" dirty="0"/>
              <a:t>Initialization</a:t>
            </a:r>
            <a:endParaRPr lang="en-US" dirty="0"/>
          </a:p>
          <a:p>
            <a:pPr lvl="1"/>
            <a:r>
              <a:rPr lang="en-US" dirty="0"/>
              <a:t>Set up </a:t>
            </a:r>
            <a:r>
              <a:rPr lang="en-US" b="1" dirty="0"/>
              <a:t>empty cache frames</a:t>
            </a:r>
            <a:r>
              <a:rPr lang="en-US" dirty="0"/>
              <a:t> for storing data.</a:t>
            </a:r>
          </a:p>
          <a:p>
            <a:r>
              <a:rPr lang="en-US" b="1" dirty="0"/>
              <a:t>Execution Phase</a:t>
            </a:r>
            <a:endParaRPr lang="en-US" dirty="0"/>
          </a:p>
          <a:p>
            <a:pPr lvl="1"/>
            <a:r>
              <a:rPr lang="en-US" dirty="0"/>
              <a:t>Run </a:t>
            </a:r>
            <a:r>
              <a:rPr lang="en-US" b="1" dirty="0"/>
              <a:t>FIFO</a:t>
            </a:r>
            <a:r>
              <a:rPr lang="en-US" dirty="0"/>
              <a:t>, </a:t>
            </a:r>
            <a:r>
              <a:rPr lang="en-US" b="1" dirty="0"/>
              <a:t>LRU</a:t>
            </a:r>
            <a:r>
              <a:rPr lang="en-US" dirty="0"/>
              <a:t>, and </a:t>
            </a:r>
            <a:r>
              <a:rPr lang="en-US" b="1" dirty="0"/>
              <a:t>Optimal</a:t>
            </a:r>
            <a:r>
              <a:rPr lang="en-US" dirty="0"/>
              <a:t> algorithms one by one.</a:t>
            </a:r>
          </a:p>
          <a:p>
            <a:r>
              <a:rPr lang="en-US" b="1" dirty="0"/>
              <a:t>Computation</a:t>
            </a:r>
            <a:endParaRPr lang="en-US" dirty="0"/>
          </a:p>
          <a:p>
            <a:pPr lvl="1"/>
            <a:r>
              <a:rPr lang="en-US" dirty="0"/>
              <a:t>Record </a:t>
            </a:r>
            <a:r>
              <a:rPr lang="en-US" b="1" dirty="0"/>
              <a:t>page hits</a:t>
            </a:r>
            <a:r>
              <a:rPr lang="en-US" dirty="0"/>
              <a:t>, </a:t>
            </a:r>
            <a:r>
              <a:rPr lang="en-US" b="1" dirty="0"/>
              <a:t>page faults</a:t>
            </a:r>
            <a:r>
              <a:rPr lang="en-US" dirty="0"/>
              <a:t>, and </a:t>
            </a:r>
            <a:r>
              <a:rPr lang="en-US" b="1" dirty="0"/>
              <a:t>replacements</a:t>
            </a:r>
            <a:r>
              <a:rPr lang="en-US" dirty="0"/>
              <a:t> for each algorithm.</a:t>
            </a:r>
          </a:p>
          <a:p>
            <a:r>
              <a:rPr lang="en-US" b="1" dirty="0"/>
              <a:t>Result Analysis</a:t>
            </a:r>
            <a:endParaRPr lang="en-US" dirty="0"/>
          </a:p>
          <a:p>
            <a:pPr lvl="1"/>
            <a:r>
              <a:rPr lang="en-US" dirty="0"/>
              <a:t>Compare the performance of all three policies based on </a:t>
            </a:r>
            <a:r>
              <a:rPr lang="en-US" b="1" dirty="0"/>
              <a:t>hit ratio</a:t>
            </a:r>
            <a:r>
              <a:rPr lang="en-US" dirty="0"/>
              <a:t> and </a:t>
            </a:r>
            <a:r>
              <a:rPr lang="en-US" b="1" dirty="0"/>
              <a:t>miss ratio</a:t>
            </a:r>
            <a:r>
              <a:rPr lang="en-US" dirty="0"/>
              <a:t>.</a:t>
            </a:r>
          </a:p>
          <a:p>
            <a:r>
              <a:rPr lang="en-US" b="1" dirty="0"/>
              <a:t>Output</a:t>
            </a:r>
            <a:endParaRPr lang="en-US" dirty="0"/>
          </a:p>
          <a:p>
            <a:pPr lvl="1"/>
            <a:r>
              <a:rPr lang="en-US" dirty="0"/>
              <a:t>Display results using tables or graphs for better understanding.</a:t>
            </a:r>
          </a:p>
          <a:p>
            <a:endParaRPr lang="en-IN" dirty="0"/>
          </a:p>
        </p:txBody>
      </p:sp>
    </p:spTree>
    <p:extLst>
      <p:ext uri="{BB962C8B-B14F-4D97-AF65-F5344CB8AC3E}">
        <p14:creationId xmlns:p14="http://schemas.microsoft.com/office/powerpoint/2010/main" val="3499034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5DD61-260B-8C33-587C-18BA84613D54}"/>
              </a:ext>
            </a:extLst>
          </p:cNvPr>
          <p:cNvSpPr>
            <a:spLocks noGrp="1"/>
          </p:cNvSpPr>
          <p:nvPr>
            <p:ph type="title"/>
          </p:nvPr>
        </p:nvSpPr>
        <p:spPr/>
        <p:txBody>
          <a:bodyPr>
            <a:normAutofit/>
          </a:bodyPr>
          <a:lstStyle/>
          <a:p>
            <a:r>
              <a:rPr lang="en-IN" sz="6000" b="1" dirty="0"/>
              <a:t>Input and Initialization</a:t>
            </a:r>
          </a:p>
        </p:txBody>
      </p:sp>
      <p:sp>
        <p:nvSpPr>
          <p:cNvPr id="3" name="Content Placeholder 2">
            <a:extLst>
              <a:ext uri="{FF2B5EF4-FFF2-40B4-BE49-F238E27FC236}">
                <a16:creationId xmlns:a16="http://schemas.microsoft.com/office/drawing/2014/main" id="{16426629-90C4-149A-65A6-C781E559C02D}"/>
              </a:ext>
            </a:extLst>
          </p:cNvPr>
          <p:cNvSpPr>
            <a:spLocks noGrp="1"/>
          </p:cNvSpPr>
          <p:nvPr>
            <p:ph idx="1"/>
          </p:nvPr>
        </p:nvSpPr>
        <p:spPr/>
        <p:txBody>
          <a:bodyPr/>
          <a:lstStyle/>
          <a:p>
            <a:r>
              <a:rPr lang="en-US" b="1" dirty="0"/>
              <a:t>Inputs:</a:t>
            </a:r>
            <a:endParaRPr lang="en-US" dirty="0"/>
          </a:p>
          <a:p>
            <a:pPr lvl="1"/>
            <a:r>
              <a:rPr lang="en-US" dirty="0"/>
              <a:t>Cache size</a:t>
            </a:r>
          </a:p>
          <a:p>
            <a:pPr lvl="1"/>
            <a:r>
              <a:rPr lang="en-US" dirty="0"/>
              <a:t>Sequence of memory addresses (reference string)</a:t>
            </a:r>
          </a:p>
          <a:p>
            <a:pPr lvl="1"/>
            <a:r>
              <a:rPr lang="en-US" dirty="0"/>
              <a:t>Choice of replacement policy</a:t>
            </a:r>
          </a:p>
          <a:p>
            <a:r>
              <a:rPr lang="en-US" b="1" dirty="0"/>
              <a:t>Initialization:</a:t>
            </a:r>
            <a:endParaRPr lang="en-US" dirty="0"/>
          </a:p>
          <a:p>
            <a:pPr lvl="1"/>
            <a:r>
              <a:rPr lang="en-US" dirty="0"/>
              <a:t>Start with an </a:t>
            </a:r>
            <a:r>
              <a:rPr lang="en-US" b="1" dirty="0"/>
              <a:t>empty cache</a:t>
            </a:r>
            <a:r>
              <a:rPr lang="en-US" dirty="0"/>
              <a:t>.</a:t>
            </a:r>
          </a:p>
          <a:p>
            <a:pPr lvl="1"/>
            <a:r>
              <a:rPr lang="en-US" dirty="0"/>
              <a:t>Set hit = 0 and miss = 0 counters.</a:t>
            </a:r>
          </a:p>
          <a:p>
            <a:pPr lvl="1"/>
            <a:r>
              <a:rPr lang="en-US" dirty="0"/>
              <a:t>Load configuration parameters.</a:t>
            </a:r>
          </a:p>
          <a:p>
            <a:r>
              <a:rPr lang="en-US" dirty="0"/>
              <a:t>📌 </a:t>
            </a:r>
            <a:r>
              <a:rPr lang="en-US" i="1" dirty="0"/>
              <a:t>Example:</a:t>
            </a:r>
            <a:br>
              <a:rPr lang="en-US" dirty="0"/>
            </a:br>
            <a:r>
              <a:rPr lang="en-US" dirty="0"/>
              <a:t>Memory references → [2, 3, 2, 1, 5, 2, 4, 5, 3, 2]</a:t>
            </a:r>
          </a:p>
          <a:p>
            <a:endParaRPr lang="en-IN" dirty="0"/>
          </a:p>
        </p:txBody>
      </p:sp>
    </p:spTree>
    <p:extLst>
      <p:ext uri="{BB962C8B-B14F-4D97-AF65-F5344CB8AC3E}">
        <p14:creationId xmlns:p14="http://schemas.microsoft.com/office/powerpoint/2010/main" val="1588584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15986-1F24-FA38-6D80-43F8949D4BF4}"/>
              </a:ext>
            </a:extLst>
          </p:cNvPr>
          <p:cNvSpPr>
            <a:spLocks noGrp="1"/>
          </p:cNvSpPr>
          <p:nvPr>
            <p:ph type="title"/>
          </p:nvPr>
        </p:nvSpPr>
        <p:spPr/>
        <p:txBody>
          <a:bodyPr>
            <a:normAutofit/>
          </a:bodyPr>
          <a:lstStyle/>
          <a:p>
            <a:r>
              <a:rPr lang="en-IN" sz="6000" b="1" dirty="0"/>
              <a:t>Replacement policy</a:t>
            </a:r>
          </a:p>
        </p:txBody>
      </p:sp>
      <p:sp>
        <p:nvSpPr>
          <p:cNvPr id="3" name="Content Placeholder 2">
            <a:extLst>
              <a:ext uri="{FF2B5EF4-FFF2-40B4-BE49-F238E27FC236}">
                <a16:creationId xmlns:a16="http://schemas.microsoft.com/office/drawing/2014/main" id="{75A44AC3-C3EC-E385-4421-6F5C2D3C548F}"/>
              </a:ext>
            </a:extLst>
          </p:cNvPr>
          <p:cNvSpPr>
            <a:spLocks noGrp="1"/>
          </p:cNvSpPr>
          <p:nvPr>
            <p:ph idx="1"/>
          </p:nvPr>
        </p:nvSpPr>
        <p:spPr/>
        <p:txBody>
          <a:bodyPr>
            <a:normAutofit fontScale="92500" lnSpcReduction="10000"/>
          </a:bodyPr>
          <a:lstStyle/>
          <a:p>
            <a:pPr>
              <a:lnSpc>
                <a:spcPct val="150000"/>
              </a:lnSpc>
            </a:pPr>
            <a:r>
              <a:rPr lang="en-US" dirty="0"/>
              <a:t>Determines </a:t>
            </a:r>
            <a:r>
              <a:rPr lang="en-US" b="1" dirty="0"/>
              <a:t>which block to replace</a:t>
            </a:r>
            <a:r>
              <a:rPr lang="en-US" dirty="0"/>
              <a:t> when cache is full.</a:t>
            </a:r>
          </a:p>
          <a:p>
            <a:pPr>
              <a:lnSpc>
                <a:spcPct val="150000"/>
              </a:lnSpc>
            </a:pPr>
            <a:r>
              <a:rPr lang="en-US" dirty="0"/>
              <a:t>Common policies:</a:t>
            </a:r>
          </a:p>
          <a:p>
            <a:pPr lvl="1">
              <a:lnSpc>
                <a:spcPct val="150000"/>
              </a:lnSpc>
            </a:pPr>
            <a:r>
              <a:rPr lang="en-US" b="1" dirty="0"/>
              <a:t>FIFO (First In, First Out)</a:t>
            </a:r>
            <a:r>
              <a:rPr lang="en-US" dirty="0"/>
              <a:t> – replace oldest block.</a:t>
            </a:r>
          </a:p>
          <a:p>
            <a:pPr lvl="1">
              <a:lnSpc>
                <a:spcPct val="150000"/>
              </a:lnSpc>
            </a:pPr>
            <a:r>
              <a:rPr lang="en-US" b="1" dirty="0"/>
              <a:t>LRU (Least Recently Used)</a:t>
            </a:r>
            <a:r>
              <a:rPr lang="en-US" dirty="0"/>
              <a:t> – replace block not used recently.</a:t>
            </a:r>
          </a:p>
          <a:p>
            <a:pPr lvl="1">
              <a:lnSpc>
                <a:spcPct val="150000"/>
              </a:lnSpc>
            </a:pPr>
            <a:r>
              <a:rPr lang="en-US" b="1" dirty="0"/>
              <a:t>LFU (Least Frequently Used)</a:t>
            </a:r>
            <a:r>
              <a:rPr lang="en-US" dirty="0"/>
              <a:t> – replace block with fewest accesses.</a:t>
            </a:r>
          </a:p>
          <a:p>
            <a:pPr lvl="1">
              <a:lnSpc>
                <a:spcPct val="150000"/>
              </a:lnSpc>
            </a:pPr>
            <a:r>
              <a:rPr lang="en-US" b="1" dirty="0"/>
              <a:t>Random</a:t>
            </a:r>
            <a:r>
              <a:rPr lang="en-US" dirty="0"/>
              <a:t> – replace any randomly selected block.</a:t>
            </a:r>
          </a:p>
          <a:p>
            <a:pPr>
              <a:lnSpc>
                <a:spcPct val="150000"/>
              </a:lnSpc>
            </a:pPr>
            <a:r>
              <a:rPr lang="en-US" dirty="0"/>
              <a:t>💡 </a:t>
            </a:r>
            <a:r>
              <a:rPr lang="en-US" i="1" dirty="0"/>
              <a:t>Each policy has trade-offs between simplicity and efficiency.</a:t>
            </a:r>
            <a:endParaRPr lang="en-US" dirty="0"/>
          </a:p>
          <a:p>
            <a:endParaRPr lang="en-IN" dirty="0"/>
          </a:p>
        </p:txBody>
      </p:sp>
    </p:spTree>
    <p:extLst>
      <p:ext uri="{BB962C8B-B14F-4D97-AF65-F5344CB8AC3E}">
        <p14:creationId xmlns:p14="http://schemas.microsoft.com/office/powerpoint/2010/main" val="3573160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AB9D8-F347-4903-1BB6-395B5561801E}"/>
              </a:ext>
            </a:extLst>
          </p:cNvPr>
          <p:cNvSpPr>
            <a:spLocks noGrp="1"/>
          </p:cNvSpPr>
          <p:nvPr>
            <p:ph type="title"/>
          </p:nvPr>
        </p:nvSpPr>
        <p:spPr/>
        <p:txBody>
          <a:bodyPr>
            <a:normAutofit/>
          </a:bodyPr>
          <a:lstStyle/>
          <a:p>
            <a:r>
              <a:rPr lang="en-IN" sz="6000" b="1" dirty="0"/>
              <a:t>Simulator flow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17F1FF-41CA-5DD1-E601-ADC5FD167B62}"/>
                  </a:ext>
                </a:extLst>
              </p:cNvPr>
              <p:cNvSpPr>
                <a:spLocks noGrp="1"/>
              </p:cNvSpPr>
              <p:nvPr>
                <p:ph idx="1"/>
              </p:nvPr>
            </p:nvSpPr>
            <p:spPr/>
            <p:txBody>
              <a:bodyPr>
                <a:normAutofit lnSpcReduction="10000"/>
              </a:bodyPr>
              <a:lstStyle/>
              <a:p>
                <a:r>
                  <a:rPr lang="en-IN" b="1" dirty="0"/>
                  <a:t>Algorithm Steps:</a:t>
                </a:r>
                <a:endParaRPr lang="en-IN" dirty="0"/>
              </a:p>
              <a:p>
                <a:r>
                  <a:rPr lang="en-IN" dirty="0"/>
                  <a:t>Read input sequence.</a:t>
                </a:r>
              </a:p>
              <a:p>
                <a:r>
                  <a:rPr lang="en-IN" dirty="0"/>
                  <a:t>For each memory access:</a:t>
                </a:r>
              </a:p>
              <a:p>
                <a:pPr lvl="1"/>
                <a:r>
                  <a:rPr lang="en-IN" dirty="0"/>
                  <a:t>Check cache → if found → </a:t>
                </a:r>
                <a:r>
                  <a:rPr lang="en-IN" b="1" dirty="0"/>
                  <a:t>Hit</a:t>
                </a:r>
                <a:endParaRPr lang="en-IN" dirty="0"/>
              </a:p>
              <a:p>
                <a:pPr lvl="1"/>
                <a:r>
                  <a:rPr lang="en-IN" dirty="0"/>
                  <a:t>Else → </a:t>
                </a:r>
                <a:r>
                  <a:rPr lang="en-IN" b="1" dirty="0"/>
                  <a:t>Miss</a:t>
                </a:r>
                <a:r>
                  <a:rPr lang="en-IN" dirty="0"/>
                  <a:t> → Replace block using chosen policy</a:t>
                </a:r>
              </a:p>
              <a:p>
                <a:r>
                  <a:rPr lang="en-IN" dirty="0"/>
                  <a:t>Update hit/miss counters.</a:t>
                </a:r>
              </a:p>
              <a:p>
                <a:r>
                  <a:rPr lang="en-IN" dirty="0"/>
                  <a:t>Display cache contents after each access.</a:t>
                </a:r>
              </a:p>
              <a:p>
                <a:r>
                  <a:rPr lang="en-IN" dirty="0"/>
                  <a:t>🧮 Formula:</a:t>
                </a:r>
              </a:p>
              <a:p>
                <a14:m>
                  <m:oMath xmlns:m="http://schemas.openxmlformats.org/officeDocument/2006/math">
                    <m:r>
                      <m:rPr>
                        <m:nor/>
                      </m:rPr>
                      <a:rPr lang="en-IN" b="0"/>
                      <m:t>Hit</m:t>
                    </m:r>
                    <m:r>
                      <m:rPr>
                        <m:nor/>
                      </m:rPr>
                      <a:rPr lang="en-IN" b="0" i="1"/>
                      <m:t> </m:t>
                    </m:r>
                    <m:r>
                      <m:rPr>
                        <m:nor/>
                      </m:rPr>
                      <a:rPr lang="en-IN" b="0" i="1"/>
                      <m:t>Ratio</m:t>
                    </m:r>
                    <m:r>
                      <a:rPr lang="en-IN">
                        <a:latin typeface="Cambria Math" panose="02040503050406030204" pitchFamily="18" charset="0"/>
                      </a:rPr>
                      <m:t>=</m:t>
                    </m:r>
                    <m:f>
                      <m:fPr>
                        <m:ctrlPr>
                          <a:rPr lang="ar-AE" i="1">
                            <a:latin typeface="Cambria Math" panose="02040503050406030204" pitchFamily="18" charset="0"/>
                          </a:rPr>
                        </m:ctrlPr>
                      </m:fPr>
                      <m:num>
                        <m:r>
                          <m:rPr>
                            <m:nor/>
                          </m:rPr>
                          <a:rPr lang="en-IN" i="1"/>
                          <m:t>Hits</m:t>
                        </m:r>
                      </m:num>
                      <m:den>
                        <m:r>
                          <m:rPr>
                            <m:nor/>
                          </m:rPr>
                          <a:rPr lang="en-IN" i="1"/>
                          <m:t>Total</m:t>
                        </m:r>
                        <m:r>
                          <m:rPr>
                            <m:nor/>
                          </m:rPr>
                          <a:rPr lang="en-IN" i="1"/>
                          <m:t> </m:t>
                        </m:r>
                        <m:r>
                          <m:rPr>
                            <m:nor/>
                          </m:rPr>
                          <a:rPr lang="en-IN" i="1"/>
                          <m:t>Accesses</m:t>
                        </m:r>
                      </m:den>
                    </m:f>
                  </m:oMath>
                </a14:m>
                <a:endParaRPr lang="ar-AE" b="0" dirty="0"/>
              </a:p>
              <a:p>
                <a:endParaRPr lang="en-IN" dirty="0"/>
              </a:p>
            </p:txBody>
          </p:sp>
        </mc:Choice>
        <mc:Fallback xmlns="">
          <p:sp>
            <p:nvSpPr>
              <p:cNvPr id="3" name="Content Placeholder 2">
                <a:extLst>
                  <a:ext uri="{FF2B5EF4-FFF2-40B4-BE49-F238E27FC236}">
                    <a16:creationId xmlns:a16="http://schemas.microsoft.com/office/drawing/2014/main" id="{B117F1FF-41CA-5DD1-E601-ADC5FD167B62}"/>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IN">
                    <a:noFill/>
                  </a:rPr>
                  <a:t> </a:t>
                </a:r>
              </a:p>
            </p:txBody>
          </p:sp>
        </mc:Fallback>
      </mc:AlternateContent>
    </p:spTree>
    <p:extLst>
      <p:ext uri="{BB962C8B-B14F-4D97-AF65-F5344CB8AC3E}">
        <p14:creationId xmlns:p14="http://schemas.microsoft.com/office/powerpoint/2010/main" val="1320384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61999-A0BA-68EF-21E8-BAACD8A05384}"/>
              </a:ext>
            </a:extLst>
          </p:cNvPr>
          <p:cNvSpPr>
            <a:spLocks noGrp="1"/>
          </p:cNvSpPr>
          <p:nvPr>
            <p:ph type="title"/>
          </p:nvPr>
        </p:nvSpPr>
        <p:spPr/>
        <p:txBody>
          <a:bodyPr>
            <a:normAutofit/>
          </a:bodyPr>
          <a:lstStyle/>
          <a:p>
            <a:r>
              <a:rPr lang="en-IN" sz="6000" b="1" dirty="0"/>
              <a:t>Output Analysis</a:t>
            </a:r>
          </a:p>
        </p:txBody>
      </p:sp>
      <p:graphicFrame>
        <p:nvGraphicFramePr>
          <p:cNvPr id="6" name="Content Placeholder 5">
            <a:extLst>
              <a:ext uri="{FF2B5EF4-FFF2-40B4-BE49-F238E27FC236}">
                <a16:creationId xmlns:a16="http://schemas.microsoft.com/office/drawing/2014/main" id="{3585083C-2989-B957-8F83-68F4FBD8A9B8}"/>
              </a:ext>
            </a:extLst>
          </p:cNvPr>
          <p:cNvGraphicFramePr>
            <a:graphicFrameLocks noGrp="1"/>
          </p:cNvGraphicFramePr>
          <p:nvPr>
            <p:ph idx="1"/>
            <p:extLst>
              <p:ext uri="{D42A27DB-BD31-4B8C-83A1-F6EECF244321}">
                <p14:modId xmlns:p14="http://schemas.microsoft.com/office/powerpoint/2010/main" val="56560394"/>
              </p:ext>
            </p:extLst>
          </p:nvPr>
        </p:nvGraphicFramePr>
        <p:xfrm>
          <a:off x="920394" y="4234557"/>
          <a:ext cx="10515600" cy="1463040"/>
        </p:xfrm>
        <a:graphic>
          <a:graphicData uri="http://schemas.openxmlformats.org/drawingml/2006/table">
            <a:tbl>
              <a:tblPr/>
              <a:tblGrid>
                <a:gridCol w="2628900">
                  <a:extLst>
                    <a:ext uri="{9D8B030D-6E8A-4147-A177-3AD203B41FA5}">
                      <a16:colId xmlns:a16="http://schemas.microsoft.com/office/drawing/2014/main" val="1775712867"/>
                    </a:ext>
                  </a:extLst>
                </a:gridCol>
                <a:gridCol w="2628900">
                  <a:extLst>
                    <a:ext uri="{9D8B030D-6E8A-4147-A177-3AD203B41FA5}">
                      <a16:colId xmlns:a16="http://schemas.microsoft.com/office/drawing/2014/main" val="3217360438"/>
                    </a:ext>
                  </a:extLst>
                </a:gridCol>
                <a:gridCol w="2628900">
                  <a:extLst>
                    <a:ext uri="{9D8B030D-6E8A-4147-A177-3AD203B41FA5}">
                      <a16:colId xmlns:a16="http://schemas.microsoft.com/office/drawing/2014/main" val="3530391418"/>
                    </a:ext>
                  </a:extLst>
                </a:gridCol>
                <a:gridCol w="2628900">
                  <a:extLst>
                    <a:ext uri="{9D8B030D-6E8A-4147-A177-3AD203B41FA5}">
                      <a16:colId xmlns:a16="http://schemas.microsoft.com/office/drawing/2014/main" val="3216250647"/>
                    </a:ext>
                  </a:extLst>
                </a:gridCol>
              </a:tblGrid>
              <a:tr h="0">
                <a:tc>
                  <a:txBody>
                    <a:bodyPr/>
                    <a:lstStyle/>
                    <a:p>
                      <a:pPr>
                        <a:buNone/>
                      </a:pPr>
                      <a:r>
                        <a:rPr lang="en-IN" b="1" dirty="0"/>
                        <a:t>Policy</a:t>
                      </a:r>
                    </a:p>
                  </a:txBody>
                  <a:tcPr anchor="ctr">
                    <a:lnL>
                      <a:noFill/>
                    </a:lnL>
                    <a:lnR>
                      <a:noFill/>
                    </a:lnR>
                    <a:lnT>
                      <a:noFill/>
                    </a:lnT>
                    <a:lnB>
                      <a:noFill/>
                    </a:lnB>
                    <a:noFill/>
                  </a:tcPr>
                </a:tc>
                <a:tc>
                  <a:txBody>
                    <a:bodyPr/>
                    <a:lstStyle/>
                    <a:p>
                      <a:pPr>
                        <a:buNone/>
                      </a:pPr>
                      <a:r>
                        <a:rPr lang="en-IN" b="1" dirty="0"/>
                        <a:t>Hits</a:t>
                      </a:r>
                    </a:p>
                  </a:txBody>
                  <a:tcPr anchor="ctr">
                    <a:lnL>
                      <a:noFill/>
                    </a:lnL>
                    <a:lnR>
                      <a:noFill/>
                    </a:lnR>
                    <a:lnT>
                      <a:noFill/>
                    </a:lnT>
                    <a:lnB>
                      <a:noFill/>
                    </a:lnB>
                    <a:noFill/>
                  </a:tcPr>
                </a:tc>
                <a:tc>
                  <a:txBody>
                    <a:bodyPr/>
                    <a:lstStyle/>
                    <a:p>
                      <a:pPr>
                        <a:buNone/>
                      </a:pPr>
                      <a:r>
                        <a:rPr lang="en-IN" b="1" dirty="0"/>
                        <a:t>Misses</a:t>
                      </a:r>
                    </a:p>
                  </a:txBody>
                  <a:tcPr anchor="ctr">
                    <a:lnL>
                      <a:noFill/>
                    </a:lnL>
                    <a:lnR>
                      <a:noFill/>
                    </a:lnR>
                    <a:lnT>
                      <a:noFill/>
                    </a:lnT>
                    <a:lnB>
                      <a:noFill/>
                    </a:lnB>
                    <a:noFill/>
                  </a:tcPr>
                </a:tc>
                <a:tc>
                  <a:txBody>
                    <a:bodyPr/>
                    <a:lstStyle/>
                    <a:p>
                      <a:pPr>
                        <a:buNone/>
                      </a:pPr>
                      <a:r>
                        <a:rPr lang="en-IN" b="1" dirty="0"/>
                        <a:t>Hit Ratio</a:t>
                      </a:r>
                    </a:p>
                  </a:txBody>
                  <a:tcPr anchor="ctr">
                    <a:lnL>
                      <a:noFill/>
                    </a:lnL>
                    <a:lnR>
                      <a:noFill/>
                    </a:lnR>
                    <a:lnT>
                      <a:noFill/>
                    </a:lnT>
                    <a:lnB>
                      <a:noFill/>
                    </a:lnB>
                    <a:noFill/>
                  </a:tcPr>
                </a:tc>
                <a:extLst>
                  <a:ext uri="{0D108BD9-81ED-4DB2-BD59-A6C34878D82A}">
                    <a16:rowId xmlns:a16="http://schemas.microsoft.com/office/drawing/2014/main" val="69626639"/>
                  </a:ext>
                </a:extLst>
              </a:tr>
              <a:tr h="0">
                <a:tc>
                  <a:txBody>
                    <a:bodyPr/>
                    <a:lstStyle/>
                    <a:p>
                      <a:pPr>
                        <a:buNone/>
                      </a:pPr>
                      <a:r>
                        <a:rPr lang="en-IN"/>
                        <a:t>FIFO</a:t>
                      </a:r>
                    </a:p>
                  </a:txBody>
                  <a:tcPr anchor="ctr">
                    <a:lnL>
                      <a:noFill/>
                    </a:lnL>
                    <a:lnR>
                      <a:noFill/>
                    </a:lnR>
                    <a:lnT>
                      <a:noFill/>
                    </a:lnT>
                    <a:lnB>
                      <a:noFill/>
                    </a:lnB>
                    <a:noFill/>
                  </a:tcPr>
                </a:tc>
                <a:tc>
                  <a:txBody>
                    <a:bodyPr/>
                    <a:lstStyle/>
                    <a:p>
                      <a:pPr>
                        <a:buNone/>
                      </a:pPr>
                      <a:r>
                        <a:rPr lang="en-IN"/>
                        <a:t>10</a:t>
                      </a:r>
                    </a:p>
                  </a:txBody>
                  <a:tcPr anchor="ctr">
                    <a:lnL>
                      <a:noFill/>
                    </a:lnL>
                    <a:lnR>
                      <a:noFill/>
                    </a:lnR>
                    <a:lnT>
                      <a:noFill/>
                    </a:lnT>
                    <a:lnB>
                      <a:noFill/>
                    </a:lnB>
                    <a:noFill/>
                  </a:tcPr>
                </a:tc>
                <a:tc>
                  <a:txBody>
                    <a:bodyPr/>
                    <a:lstStyle/>
                    <a:p>
                      <a:pPr>
                        <a:buNone/>
                      </a:pPr>
                      <a:r>
                        <a:rPr lang="en-IN"/>
                        <a:t>5</a:t>
                      </a:r>
                    </a:p>
                  </a:txBody>
                  <a:tcPr anchor="ctr">
                    <a:lnL>
                      <a:noFill/>
                    </a:lnL>
                    <a:lnR>
                      <a:noFill/>
                    </a:lnR>
                    <a:lnT>
                      <a:noFill/>
                    </a:lnT>
                    <a:lnB>
                      <a:noFill/>
                    </a:lnB>
                    <a:noFill/>
                  </a:tcPr>
                </a:tc>
                <a:tc>
                  <a:txBody>
                    <a:bodyPr/>
                    <a:lstStyle/>
                    <a:p>
                      <a:pPr>
                        <a:buNone/>
                      </a:pPr>
                      <a:r>
                        <a:rPr lang="en-IN"/>
                        <a:t>66.7%</a:t>
                      </a:r>
                    </a:p>
                  </a:txBody>
                  <a:tcPr anchor="ctr">
                    <a:lnL>
                      <a:noFill/>
                    </a:lnL>
                    <a:lnR>
                      <a:noFill/>
                    </a:lnR>
                    <a:lnT>
                      <a:noFill/>
                    </a:lnT>
                    <a:lnB>
                      <a:noFill/>
                    </a:lnB>
                    <a:noFill/>
                  </a:tcPr>
                </a:tc>
                <a:extLst>
                  <a:ext uri="{0D108BD9-81ED-4DB2-BD59-A6C34878D82A}">
                    <a16:rowId xmlns:a16="http://schemas.microsoft.com/office/drawing/2014/main" val="3816424608"/>
                  </a:ext>
                </a:extLst>
              </a:tr>
              <a:tr h="0">
                <a:tc>
                  <a:txBody>
                    <a:bodyPr/>
                    <a:lstStyle/>
                    <a:p>
                      <a:pPr>
                        <a:buNone/>
                      </a:pPr>
                      <a:r>
                        <a:rPr lang="en-IN" dirty="0"/>
                        <a:t>LRU</a:t>
                      </a:r>
                    </a:p>
                  </a:txBody>
                  <a:tcPr anchor="ctr">
                    <a:lnL>
                      <a:noFill/>
                    </a:lnL>
                    <a:lnR>
                      <a:noFill/>
                    </a:lnR>
                    <a:lnT>
                      <a:noFill/>
                    </a:lnT>
                    <a:lnB>
                      <a:noFill/>
                    </a:lnB>
                    <a:noFill/>
                  </a:tcPr>
                </a:tc>
                <a:tc>
                  <a:txBody>
                    <a:bodyPr/>
                    <a:lstStyle/>
                    <a:p>
                      <a:pPr>
                        <a:buNone/>
                      </a:pPr>
                      <a:r>
                        <a:rPr lang="en-IN"/>
                        <a:t>12</a:t>
                      </a:r>
                    </a:p>
                  </a:txBody>
                  <a:tcPr anchor="ctr">
                    <a:lnL>
                      <a:noFill/>
                    </a:lnL>
                    <a:lnR>
                      <a:noFill/>
                    </a:lnR>
                    <a:lnT>
                      <a:noFill/>
                    </a:lnT>
                    <a:lnB>
                      <a:noFill/>
                    </a:lnB>
                    <a:noFill/>
                  </a:tcPr>
                </a:tc>
                <a:tc>
                  <a:txBody>
                    <a:bodyPr/>
                    <a:lstStyle/>
                    <a:p>
                      <a:pPr>
                        <a:buNone/>
                      </a:pPr>
                      <a:r>
                        <a:rPr lang="en-IN" dirty="0"/>
                        <a:t>3</a:t>
                      </a:r>
                    </a:p>
                  </a:txBody>
                  <a:tcPr anchor="ctr">
                    <a:lnL>
                      <a:noFill/>
                    </a:lnL>
                    <a:lnR>
                      <a:noFill/>
                    </a:lnR>
                    <a:lnT>
                      <a:noFill/>
                    </a:lnT>
                    <a:lnB>
                      <a:noFill/>
                    </a:lnB>
                    <a:noFill/>
                  </a:tcPr>
                </a:tc>
                <a:tc>
                  <a:txBody>
                    <a:bodyPr/>
                    <a:lstStyle/>
                    <a:p>
                      <a:pPr>
                        <a:buNone/>
                      </a:pPr>
                      <a:r>
                        <a:rPr lang="en-IN"/>
                        <a:t>80%</a:t>
                      </a:r>
                    </a:p>
                  </a:txBody>
                  <a:tcPr anchor="ctr">
                    <a:lnL>
                      <a:noFill/>
                    </a:lnL>
                    <a:lnR>
                      <a:noFill/>
                    </a:lnR>
                    <a:lnT>
                      <a:noFill/>
                    </a:lnT>
                    <a:lnB>
                      <a:noFill/>
                    </a:lnB>
                    <a:noFill/>
                  </a:tcPr>
                </a:tc>
                <a:extLst>
                  <a:ext uri="{0D108BD9-81ED-4DB2-BD59-A6C34878D82A}">
                    <a16:rowId xmlns:a16="http://schemas.microsoft.com/office/drawing/2014/main" val="2595720114"/>
                  </a:ext>
                </a:extLst>
              </a:tr>
              <a:tr h="0">
                <a:tc>
                  <a:txBody>
                    <a:bodyPr/>
                    <a:lstStyle/>
                    <a:p>
                      <a:pPr>
                        <a:buNone/>
                      </a:pPr>
                      <a:r>
                        <a:rPr lang="en-IN" dirty="0"/>
                        <a:t>LFU</a:t>
                      </a:r>
                    </a:p>
                  </a:txBody>
                  <a:tcPr anchor="ctr">
                    <a:lnL>
                      <a:noFill/>
                    </a:lnL>
                    <a:lnR>
                      <a:noFill/>
                    </a:lnR>
                    <a:lnT>
                      <a:noFill/>
                    </a:lnT>
                    <a:lnB>
                      <a:noFill/>
                    </a:lnB>
                    <a:noFill/>
                  </a:tcPr>
                </a:tc>
                <a:tc>
                  <a:txBody>
                    <a:bodyPr/>
                    <a:lstStyle/>
                    <a:p>
                      <a:pPr>
                        <a:buNone/>
                      </a:pPr>
                      <a:r>
                        <a:rPr lang="en-IN"/>
                        <a:t>11</a:t>
                      </a:r>
                    </a:p>
                  </a:txBody>
                  <a:tcPr anchor="ctr">
                    <a:lnL>
                      <a:noFill/>
                    </a:lnL>
                    <a:lnR>
                      <a:noFill/>
                    </a:lnR>
                    <a:lnT>
                      <a:noFill/>
                    </a:lnT>
                    <a:lnB>
                      <a:noFill/>
                    </a:lnB>
                    <a:noFill/>
                  </a:tcPr>
                </a:tc>
                <a:tc>
                  <a:txBody>
                    <a:bodyPr/>
                    <a:lstStyle/>
                    <a:p>
                      <a:pPr>
                        <a:buNone/>
                      </a:pPr>
                      <a:r>
                        <a:rPr lang="en-IN"/>
                        <a:t>4</a:t>
                      </a:r>
                    </a:p>
                  </a:txBody>
                  <a:tcPr anchor="ctr">
                    <a:lnL>
                      <a:noFill/>
                    </a:lnL>
                    <a:lnR>
                      <a:noFill/>
                    </a:lnR>
                    <a:lnT>
                      <a:noFill/>
                    </a:lnT>
                    <a:lnB>
                      <a:noFill/>
                    </a:lnB>
                    <a:noFill/>
                  </a:tcPr>
                </a:tc>
                <a:tc>
                  <a:txBody>
                    <a:bodyPr/>
                    <a:lstStyle/>
                    <a:p>
                      <a:pPr>
                        <a:buNone/>
                      </a:pPr>
                      <a:r>
                        <a:rPr lang="en-IN" dirty="0"/>
                        <a:t>73%</a:t>
                      </a:r>
                    </a:p>
                  </a:txBody>
                  <a:tcPr anchor="ctr">
                    <a:lnL>
                      <a:noFill/>
                    </a:lnL>
                    <a:lnR>
                      <a:noFill/>
                    </a:lnR>
                    <a:lnT>
                      <a:noFill/>
                    </a:lnT>
                    <a:lnB>
                      <a:noFill/>
                    </a:lnB>
                    <a:noFill/>
                  </a:tcPr>
                </a:tc>
                <a:extLst>
                  <a:ext uri="{0D108BD9-81ED-4DB2-BD59-A6C34878D82A}">
                    <a16:rowId xmlns:a16="http://schemas.microsoft.com/office/drawing/2014/main" val="227766901"/>
                  </a:ext>
                </a:extLst>
              </a:tr>
            </a:tbl>
          </a:graphicData>
        </a:graphic>
      </p:graphicFrame>
      <p:sp>
        <p:nvSpPr>
          <p:cNvPr id="9" name="TextBox 8">
            <a:extLst>
              <a:ext uri="{FF2B5EF4-FFF2-40B4-BE49-F238E27FC236}">
                <a16:creationId xmlns:a16="http://schemas.microsoft.com/office/drawing/2014/main" id="{4FBD743B-ACF4-7423-6D14-975075B7324F}"/>
              </a:ext>
            </a:extLst>
          </p:cNvPr>
          <p:cNvSpPr txBox="1"/>
          <p:nvPr/>
        </p:nvSpPr>
        <p:spPr>
          <a:xfrm>
            <a:off x="838200" y="1741567"/>
            <a:ext cx="6200454" cy="236988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Outputs Generated:</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Hit/Miss result for each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Final cache contents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Total hits, misses, and hit ratio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Analysis:</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94542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F4E31-D7E0-948F-F321-A6B1912467F2}"/>
              </a:ext>
            </a:extLst>
          </p:cNvPr>
          <p:cNvSpPr>
            <a:spLocks noGrp="1"/>
          </p:cNvSpPr>
          <p:nvPr>
            <p:ph type="title"/>
          </p:nvPr>
        </p:nvSpPr>
        <p:spPr/>
        <p:txBody>
          <a:bodyPr/>
          <a:lstStyle/>
          <a:p>
            <a:r>
              <a:rPr lang="en-IN" b="1" dirty="0"/>
              <a:t>Conclusion</a:t>
            </a:r>
          </a:p>
        </p:txBody>
      </p:sp>
      <p:sp>
        <p:nvSpPr>
          <p:cNvPr id="3" name="Content Placeholder 2">
            <a:extLst>
              <a:ext uri="{FF2B5EF4-FFF2-40B4-BE49-F238E27FC236}">
                <a16:creationId xmlns:a16="http://schemas.microsoft.com/office/drawing/2014/main" id="{680E1944-5D9A-43B6-658F-BE48584373F8}"/>
              </a:ext>
            </a:extLst>
          </p:cNvPr>
          <p:cNvSpPr>
            <a:spLocks noGrp="1"/>
          </p:cNvSpPr>
          <p:nvPr>
            <p:ph idx="1"/>
          </p:nvPr>
        </p:nvSpPr>
        <p:spPr/>
        <p:txBody>
          <a:bodyPr/>
          <a:lstStyle/>
          <a:p>
            <a:r>
              <a:rPr lang="en-US" dirty="0"/>
              <a:t>The simulator successfully demonstrates FIFO, LRU, and Optimal cache replacement policies.</a:t>
            </a:r>
          </a:p>
          <a:p>
            <a:r>
              <a:rPr lang="en-US" dirty="0"/>
              <a:t>It helps to understand how cache memory handles data when it becomes full.</a:t>
            </a:r>
          </a:p>
          <a:p>
            <a:r>
              <a:rPr lang="en-US" b="1" dirty="0"/>
              <a:t>Optimal policy</a:t>
            </a:r>
            <a:r>
              <a:rPr lang="en-US" dirty="0"/>
              <a:t> gives the best performance (highest hit rate).</a:t>
            </a:r>
          </a:p>
          <a:p>
            <a:r>
              <a:rPr lang="en-US" b="1" dirty="0"/>
              <a:t>LRU policy</a:t>
            </a:r>
            <a:r>
              <a:rPr lang="en-US" dirty="0"/>
              <a:t> performs better than </a:t>
            </a:r>
            <a:r>
              <a:rPr lang="en-US" b="1" dirty="0"/>
              <a:t>FIFO</a:t>
            </a:r>
            <a:r>
              <a:rPr lang="en-US" dirty="0"/>
              <a:t> in most practical cases.</a:t>
            </a:r>
          </a:p>
          <a:p>
            <a:r>
              <a:rPr lang="en-US" dirty="0"/>
              <a:t>The project improves understanding of memory management and system efficiency.</a:t>
            </a:r>
          </a:p>
          <a:p>
            <a:endParaRPr lang="en-IN" dirty="0"/>
          </a:p>
        </p:txBody>
      </p:sp>
    </p:spTree>
    <p:extLst>
      <p:ext uri="{BB962C8B-B14F-4D97-AF65-F5344CB8AC3E}">
        <p14:creationId xmlns:p14="http://schemas.microsoft.com/office/powerpoint/2010/main" val="4275388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55B9A-E518-625B-95AA-85CC6712DDED}"/>
              </a:ext>
            </a:extLst>
          </p:cNvPr>
          <p:cNvSpPr>
            <a:spLocks noGrp="1"/>
          </p:cNvSpPr>
          <p:nvPr>
            <p:ph type="title"/>
          </p:nvPr>
        </p:nvSpPr>
        <p:spPr/>
        <p:txBody>
          <a:bodyPr/>
          <a:lstStyle/>
          <a:p>
            <a:r>
              <a:rPr lang="en-IN" b="1" dirty="0"/>
              <a:t>References</a:t>
            </a:r>
          </a:p>
        </p:txBody>
      </p:sp>
      <p:sp>
        <p:nvSpPr>
          <p:cNvPr id="9" name="Rectangle 4">
            <a:extLst>
              <a:ext uri="{FF2B5EF4-FFF2-40B4-BE49-F238E27FC236}">
                <a16:creationId xmlns:a16="http://schemas.microsoft.com/office/drawing/2014/main" id="{92F87878-59DC-E1CF-1A7E-84083FF01A7E}"/>
              </a:ext>
            </a:extLst>
          </p:cNvPr>
          <p:cNvSpPr>
            <a:spLocks noGrp="1" noChangeArrowheads="1"/>
          </p:cNvSpPr>
          <p:nvPr>
            <p:ph idx="1"/>
          </p:nvPr>
        </p:nvSpPr>
        <p:spPr bwMode="auto">
          <a:xfrm>
            <a:off x="955158" y="1554472"/>
            <a:ext cx="1015586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Mittal, S. (2023). </a:t>
            </a:r>
            <a:r>
              <a:rPr kumimoji="0" lang="en-US" altLang="en-US" sz="2400" b="0" i="1" u="none" strike="noStrike" cap="none" normalizeH="0" baseline="0" dirty="0">
                <a:ln>
                  <a:noFill/>
                </a:ln>
                <a:solidFill>
                  <a:schemeClr val="tx1"/>
                </a:solidFill>
                <a:effectLst/>
                <a:latin typeface="Arial" panose="020B0604020202020204" pitchFamily="34" charset="0"/>
              </a:rPr>
              <a:t>A Study on Cache Replacement Policies in Modern Processors.</a:t>
            </a:r>
            <a:r>
              <a:rPr kumimoji="0" lang="en-US" altLang="en-US" sz="2400" b="0" i="0" u="none" strike="noStrike" cap="none" normalizeH="0" baseline="0" dirty="0">
                <a:ln>
                  <a:noFill/>
                </a:ln>
                <a:solidFill>
                  <a:schemeClr val="tx1"/>
                </a:solidFill>
                <a:effectLst/>
                <a:latin typeface="Arial" panose="020B0604020202020204" pitchFamily="34" charset="0"/>
              </a:rPr>
              <a:t> IEEE Access.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Sharma, P., &amp; Verma, N. (2024). </a:t>
            </a:r>
            <a:r>
              <a:rPr kumimoji="0" lang="en-US" altLang="en-US" sz="2400" b="0" i="1" u="none" strike="noStrike" cap="none" normalizeH="0" baseline="0" dirty="0">
                <a:ln>
                  <a:noFill/>
                </a:ln>
                <a:solidFill>
                  <a:schemeClr val="tx1"/>
                </a:solidFill>
                <a:effectLst/>
                <a:latin typeface="Arial" panose="020B0604020202020204" pitchFamily="34" charset="0"/>
              </a:rPr>
              <a:t>Simulation of Cache Replacement Policies for Better Performance.</a:t>
            </a:r>
            <a:r>
              <a:rPr kumimoji="0" lang="en-US" altLang="en-US" sz="2400" b="0" i="0" u="none" strike="noStrike" cap="none" normalizeH="0" baseline="0" dirty="0">
                <a:ln>
                  <a:noFill/>
                </a:ln>
                <a:solidFill>
                  <a:schemeClr val="tx1"/>
                </a:solidFill>
                <a:effectLst/>
                <a:latin typeface="Arial" panose="020B0604020202020204" pitchFamily="34" charset="0"/>
              </a:rPr>
              <a:t> Journal of Engineering Research and Technology.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Reddy, D., &amp; Rao, M. (2025). </a:t>
            </a:r>
            <a:r>
              <a:rPr kumimoji="0" lang="en-US" altLang="en-US" sz="2400" b="0" i="1" u="none" strike="noStrike" cap="none" normalizeH="0" baseline="0" dirty="0">
                <a:ln>
                  <a:noFill/>
                </a:ln>
                <a:solidFill>
                  <a:schemeClr val="tx1"/>
                </a:solidFill>
                <a:effectLst/>
                <a:latin typeface="Arial" panose="020B0604020202020204" pitchFamily="34" charset="0"/>
              </a:rPr>
              <a:t>Comparison of Cache Replacement Techniques.</a:t>
            </a:r>
            <a:r>
              <a:rPr kumimoji="0" lang="en-US" altLang="en-US" sz="2400" b="0" i="0" u="none" strike="noStrike" cap="none" normalizeH="0" baseline="0" dirty="0">
                <a:ln>
                  <a:noFill/>
                </a:ln>
                <a:solidFill>
                  <a:schemeClr val="tx1"/>
                </a:solidFill>
                <a:effectLst/>
                <a:latin typeface="Arial" panose="020B0604020202020204" pitchFamily="34" charset="0"/>
              </a:rPr>
              <a:t> IRJMET Journal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1" u="none" strike="noStrike" cap="none" normalizeH="0" baseline="0" dirty="0" err="1">
                <a:ln>
                  <a:noFill/>
                </a:ln>
                <a:solidFill>
                  <a:schemeClr val="tx1"/>
                </a:solidFill>
                <a:effectLst/>
                <a:latin typeface="Arial" panose="020B0604020202020204" pitchFamily="34" charset="0"/>
              </a:rPr>
              <a:t>GeeksforGeeks</a:t>
            </a:r>
            <a:r>
              <a:rPr kumimoji="0" lang="en-US" altLang="en-US" sz="2400" b="0" i="1" u="none" strike="noStrike" cap="none" normalizeH="0" baseline="0" dirty="0">
                <a:ln>
                  <a:noFill/>
                </a:ln>
                <a:solidFill>
                  <a:schemeClr val="tx1"/>
                </a:solidFill>
                <a:effectLst/>
                <a:latin typeface="Arial" panose="020B0604020202020204" pitchFamily="34" charset="0"/>
              </a:rPr>
              <a:t> (2025). Page Replacement Algorithms in Operating Systems.</a:t>
            </a:r>
            <a:r>
              <a:rPr kumimoji="0" lang="en-US" altLang="en-US" sz="2400" b="0" i="0" u="none" strike="noStrike" cap="none" normalizeH="0" baseline="0" dirty="0">
                <a:ln>
                  <a:noFill/>
                </a:ln>
                <a:solidFill>
                  <a:schemeClr val="tx1"/>
                </a:solidFill>
                <a:effectLst/>
                <a:latin typeface="Arial" panose="020B0604020202020204" pitchFamily="34" charset="0"/>
              </a:rPr>
              <a:t> Retrieved from </a:t>
            </a:r>
            <a:r>
              <a:rPr kumimoji="0" lang="en-US" altLang="en-US" sz="2400" b="0" i="0" u="none" strike="noStrike" cap="none" normalizeH="0" baseline="0" dirty="0">
                <a:ln>
                  <a:noFill/>
                </a:ln>
                <a:solidFill>
                  <a:schemeClr val="tx1"/>
                </a:solidFill>
                <a:effectLst/>
                <a:latin typeface="Arial" panose="020B0604020202020204" pitchFamily="34" charset="0"/>
                <a:hlinkClick r:id="rId2"/>
              </a:rPr>
              <a:t>https://www.geeksforgeeks.org/page-replacement-algorithms-in-operating-systems</a:t>
            </a:r>
            <a:r>
              <a:rPr kumimoji="0" lang="en-US" altLang="en-US" sz="1800" b="0" i="0" u="none" strike="noStrike" cap="none" normalizeH="0" baseline="0" dirty="0">
                <a:ln>
                  <a:noFill/>
                </a:ln>
                <a:solidFill>
                  <a:schemeClr val="tx1"/>
                </a:solidFill>
                <a:effectLst/>
                <a:latin typeface="Arial" panose="020B0604020202020204" pitchFamily="34" charset="0"/>
                <a:hlinkClick r:id="rId2"/>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763245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797</Words>
  <Application>Microsoft Office PowerPoint</Application>
  <PresentationFormat>Widescreen</PresentationFormat>
  <Paragraphs>109</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Blackadder ITC</vt:lpstr>
      <vt:lpstr>Calibri</vt:lpstr>
      <vt:lpstr>Calibri Light</vt:lpstr>
      <vt:lpstr>Cambria Math</vt:lpstr>
      <vt:lpstr>Times New Roman</vt:lpstr>
      <vt:lpstr>Office Theme</vt:lpstr>
      <vt:lpstr>CACHE REPLACEMENT POLICY SIMULATOR(LRU,FIFO,OPTIMAL)</vt:lpstr>
      <vt:lpstr>Introduction</vt:lpstr>
      <vt:lpstr>Objectives</vt:lpstr>
      <vt:lpstr>Types of Cache replacement policies</vt:lpstr>
      <vt:lpstr>Block Diagram</vt:lpstr>
      <vt:lpstr>Problem statement</vt:lpstr>
      <vt:lpstr>Methodology</vt:lpstr>
      <vt:lpstr>Input and Initialization</vt:lpstr>
      <vt:lpstr>Replacement policy</vt:lpstr>
      <vt:lpstr>Simulator flow</vt:lpstr>
      <vt:lpstr>Output Analysis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9</cp:revision>
  <dcterms:created xsi:type="dcterms:W3CDTF">2025-11-10T09:12:18Z</dcterms:created>
  <dcterms:modified xsi:type="dcterms:W3CDTF">2025-11-14T03:44:59Z</dcterms:modified>
</cp:coreProperties>
</file>